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
            <a:ext cx="3474720" cy="3474720"/>
          </a:xfrm>
          <a:prstGeom prst="ellipse">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155680" y="1097280"/>
            <a:ext cx="1828800" cy="18288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75520" y="5303520"/>
            <a:ext cx="2286000" cy="2286000"/>
          </a:xfrm>
          <a:prstGeom prst="ellipse">
            <a:avLst/>
          </a:prstGeom>
          <a:solidFill>
            <a:srgbClr val="18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8229600" cy="1463040"/>
          </a:xfrm>
          <a:prstGeom prst="rect">
            <a:avLst/>
          </a:prstGeom>
          <a:noFill/>
        </p:spPr>
        <p:txBody>
          <a:bodyPr wrap="square">
            <a:spAutoFit/>
          </a:bodyPr>
          <a:lstStyle/>
          <a:p>
            <a:pPr algn="l"/>
            <a:r>
              <a:rPr sz="7200" b="1" i="0">
                <a:solidFill>
                  <a:srgbClr val="FFFFFF"/>
                </a:solidFill>
              </a:rPr>
              <a:t>IFRS 18</a:t>
            </a:r>
          </a:p>
        </p:txBody>
      </p:sp>
      <p:sp>
        <p:nvSpPr>
          <p:cNvPr id="8" name="Rectangle 7"/>
          <p:cNvSpPr/>
          <p:nvPr/>
        </p:nvSpPr>
        <p:spPr>
          <a:xfrm>
            <a:off x="548640" y="2834640"/>
            <a:ext cx="5029200" cy="6400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71800"/>
            <a:ext cx="8686800" cy="1188720"/>
          </a:xfrm>
          <a:prstGeom prst="rect">
            <a:avLst/>
          </a:prstGeom>
          <a:noFill/>
        </p:spPr>
        <p:txBody>
          <a:bodyPr wrap="square">
            <a:spAutoFit/>
          </a:bodyPr>
          <a:lstStyle/>
          <a:p>
            <a:pPr algn="l"/>
            <a:r>
              <a:rPr sz="2600" b="0" i="0">
                <a:solidFill>
                  <a:srgbClr val="9DC3E6"/>
                </a:solidFill>
              </a:rPr>
              <a:t>Presentation and Disclosure
in Financial Statements</a:t>
            </a:r>
          </a:p>
        </p:txBody>
      </p:sp>
      <p:sp>
        <p:nvSpPr>
          <p:cNvPr id="10" name="TextBox 9"/>
          <p:cNvSpPr txBox="1"/>
          <p:nvPr/>
        </p:nvSpPr>
        <p:spPr>
          <a:xfrm>
            <a:off x="548640" y="4251960"/>
            <a:ext cx="8686800" cy="502920"/>
          </a:xfrm>
          <a:prstGeom prst="rect">
            <a:avLst/>
          </a:prstGeom>
          <a:noFill/>
        </p:spPr>
        <p:txBody>
          <a:bodyPr wrap="square">
            <a:spAutoFit/>
          </a:bodyPr>
          <a:lstStyle/>
          <a:p>
            <a:pPr algn="l"/>
            <a:r>
              <a:rPr sz="1400" b="0" i="0">
                <a:solidFill>
                  <a:srgbClr val="CCCCCC"/>
                </a:solidFill>
              </a:rPr>
              <a:t>A Comprehensive Guide to the New Standard — Replacing IAS 1</a:t>
            </a:r>
          </a:p>
        </p:txBody>
      </p:sp>
      <p:sp>
        <p:nvSpPr>
          <p:cNvPr id="11" name="Rectangle 10"/>
          <p:cNvSpPr/>
          <p:nvPr/>
        </p:nvSpPr>
        <p:spPr>
          <a:xfrm>
            <a:off x="548640" y="4983480"/>
            <a:ext cx="3108960" cy="5029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Effective:  1 January 2027</a:t>
            </a:r>
          </a:p>
        </p:txBody>
      </p:sp>
      <p:sp>
        <p:nvSpPr>
          <p:cNvPr id="12" name="TextBox 11"/>
          <p:cNvSpPr txBox="1"/>
          <p:nvPr/>
        </p:nvSpPr>
        <p:spPr>
          <a:xfrm>
            <a:off x="548640" y="5760720"/>
            <a:ext cx="9144000" cy="365760"/>
          </a:xfrm>
          <a:prstGeom prst="rect">
            <a:avLst/>
          </a:prstGeom>
          <a:noFill/>
        </p:spPr>
        <p:txBody>
          <a:bodyPr wrap="square">
            <a:spAutoFit/>
          </a:bodyPr>
          <a:lstStyle/>
          <a:p>
            <a:pPr algn="l"/>
            <a:r>
              <a:rPr sz="1100" b="0" i="0">
                <a:solidFill>
                  <a:srgbClr val="7F7F7F"/>
                </a:solidFill>
              </a:rPr>
              <a:t>IASB — Issued May 2024  |  Supersedes IAS 1 (2007)</a:t>
            </a:r>
          </a:p>
        </p:txBody>
      </p:sp>
      <p:sp>
        <p:nvSpPr>
          <p:cNvPr id="13" name="Rectangle 12"/>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Agenda</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What we will cover today</a:t>
            </a:r>
          </a:p>
        </p:txBody>
      </p:sp>
      <p:sp>
        <p:nvSpPr>
          <p:cNvPr id="7" name="Rectangle 6"/>
          <p:cNvSpPr/>
          <p:nvPr/>
        </p:nvSpPr>
        <p:spPr>
          <a:xfrm>
            <a:off x="365760" y="1325880"/>
            <a:ext cx="438912" cy="4663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01</a:t>
            </a:r>
          </a:p>
        </p:txBody>
      </p:sp>
      <p:sp>
        <p:nvSpPr>
          <p:cNvPr id="8" name="Rectangle 7"/>
          <p:cNvSpPr/>
          <p:nvPr/>
        </p:nvSpPr>
        <p:spPr>
          <a:xfrm>
            <a:off x="822960" y="132588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Overview — What is IFRS 18?</a:t>
            </a:r>
          </a:p>
        </p:txBody>
      </p:sp>
      <p:sp>
        <p:nvSpPr>
          <p:cNvPr id="9" name="Rectangle 8"/>
          <p:cNvSpPr/>
          <p:nvPr/>
        </p:nvSpPr>
        <p:spPr>
          <a:xfrm>
            <a:off x="365760" y="1828800"/>
            <a:ext cx="438912" cy="466344"/>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02</a:t>
            </a:r>
          </a:p>
        </p:txBody>
      </p:sp>
      <p:sp>
        <p:nvSpPr>
          <p:cNvPr id="10" name="Rectangle 9"/>
          <p:cNvSpPr/>
          <p:nvPr/>
        </p:nvSpPr>
        <p:spPr>
          <a:xfrm>
            <a:off x="822960" y="182880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Why IFRS 18?  Problems with IAS 1</a:t>
            </a:r>
          </a:p>
        </p:txBody>
      </p:sp>
      <p:sp>
        <p:nvSpPr>
          <p:cNvPr id="11" name="Rectangle 10"/>
          <p:cNvSpPr/>
          <p:nvPr/>
        </p:nvSpPr>
        <p:spPr>
          <a:xfrm>
            <a:off x="365760" y="2331720"/>
            <a:ext cx="438912" cy="4663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03</a:t>
            </a:r>
          </a:p>
        </p:txBody>
      </p:sp>
      <p:sp>
        <p:nvSpPr>
          <p:cNvPr id="12" name="Rectangle 11"/>
          <p:cNvSpPr/>
          <p:nvPr/>
        </p:nvSpPr>
        <p:spPr>
          <a:xfrm>
            <a:off x="822960" y="233172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New Statement of Profit or Loss</a:t>
            </a:r>
          </a:p>
        </p:txBody>
      </p:sp>
      <p:sp>
        <p:nvSpPr>
          <p:cNvPr id="13" name="Rectangle 12"/>
          <p:cNvSpPr/>
          <p:nvPr/>
        </p:nvSpPr>
        <p:spPr>
          <a:xfrm>
            <a:off x="365760" y="2834640"/>
            <a:ext cx="438912" cy="466344"/>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04</a:t>
            </a:r>
          </a:p>
        </p:txBody>
      </p:sp>
      <p:sp>
        <p:nvSpPr>
          <p:cNvPr id="14" name="Rectangle 13"/>
          <p:cNvSpPr/>
          <p:nvPr/>
        </p:nvSpPr>
        <p:spPr>
          <a:xfrm>
            <a:off x="822960" y="283464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Three Income Categories</a:t>
            </a:r>
          </a:p>
        </p:txBody>
      </p:sp>
      <p:sp>
        <p:nvSpPr>
          <p:cNvPr id="15" name="Rectangle 14"/>
          <p:cNvSpPr/>
          <p:nvPr/>
        </p:nvSpPr>
        <p:spPr>
          <a:xfrm>
            <a:off x="365760" y="3337560"/>
            <a:ext cx="438912" cy="4663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05</a:t>
            </a:r>
          </a:p>
        </p:txBody>
      </p:sp>
      <p:sp>
        <p:nvSpPr>
          <p:cNvPr id="16" name="Rectangle 15"/>
          <p:cNvSpPr/>
          <p:nvPr/>
        </p:nvSpPr>
        <p:spPr>
          <a:xfrm>
            <a:off x="822960" y="333756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Required Subtotals</a:t>
            </a:r>
          </a:p>
        </p:txBody>
      </p:sp>
      <p:sp>
        <p:nvSpPr>
          <p:cNvPr id="17" name="Rectangle 16"/>
          <p:cNvSpPr/>
          <p:nvPr/>
        </p:nvSpPr>
        <p:spPr>
          <a:xfrm>
            <a:off x="365760" y="3840480"/>
            <a:ext cx="438912" cy="466344"/>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06</a:t>
            </a:r>
          </a:p>
        </p:txBody>
      </p:sp>
      <p:sp>
        <p:nvSpPr>
          <p:cNvPr id="18" name="Rectangle 17"/>
          <p:cNvSpPr/>
          <p:nvPr/>
        </p:nvSpPr>
        <p:spPr>
          <a:xfrm>
            <a:off x="822960" y="384048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Management-defined Performance Measures</a:t>
            </a:r>
          </a:p>
        </p:txBody>
      </p:sp>
      <p:sp>
        <p:nvSpPr>
          <p:cNvPr id="19" name="Rectangle 18"/>
          <p:cNvSpPr/>
          <p:nvPr/>
        </p:nvSpPr>
        <p:spPr>
          <a:xfrm>
            <a:off x="5943600" y="1325880"/>
            <a:ext cx="438912" cy="4663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07</a:t>
            </a:r>
          </a:p>
        </p:txBody>
      </p:sp>
      <p:sp>
        <p:nvSpPr>
          <p:cNvPr id="20" name="Rectangle 19"/>
          <p:cNvSpPr/>
          <p:nvPr/>
        </p:nvSpPr>
        <p:spPr>
          <a:xfrm>
            <a:off x="6400800" y="132588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MPM Disclosure Requirements</a:t>
            </a:r>
          </a:p>
        </p:txBody>
      </p:sp>
      <p:sp>
        <p:nvSpPr>
          <p:cNvPr id="21" name="Rectangle 20"/>
          <p:cNvSpPr/>
          <p:nvPr/>
        </p:nvSpPr>
        <p:spPr>
          <a:xfrm>
            <a:off x="5943600" y="1828800"/>
            <a:ext cx="438912" cy="466344"/>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08</a:t>
            </a:r>
          </a:p>
        </p:txBody>
      </p:sp>
      <p:sp>
        <p:nvSpPr>
          <p:cNvPr id="22" name="Rectangle 21"/>
          <p:cNvSpPr/>
          <p:nvPr/>
        </p:nvSpPr>
        <p:spPr>
          <a:xfrm>
            <a:off x="6400800" y="182880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Aggregation &amp; Disaggregation Principles</a:t>
            </a:r>
          </a:p>
        </p:txBody>
      </p:sp>
      <p:sp>
        <p:nvSpPr>
          <p:cNvPr id="23" name="Rectangle 22"/>
          <p:cNvSpPr/>
          <p:nvPr/>
        </p:nvSpPr>
        <p:spPr>
          <a:xfrm>
            <a:off x="5943600" y="2331720"/>
            <a:ext cx="438912" cy="4663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09</a:t>
            </a:r>
          </a:p>
        </p:txBody>
      </p:sp>
      <p:sp>
        <p:nvSpPr>
          <p:cNvPr id="24" name="Rectangle 23"/>
          <p:cNvSpPr/>
          <p:nvPr/>
        </p:nvSpPr>
        <p:spPr>
          <a:xfrm>
            <a:off x="6400800" y="233172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Changes to Statement of Cash Flows</a:t>
            </a:r>
          </a:p>
        </p:txBody>
      </p:sp>
      <p:sp>
        <p:nvSpPr>
          <p:cNvPr id="25" name="Rectangle 24"/>
          <p:cNvSpPr/>
          <p:nvPr/>
        </p:nvSpPr>
        <p:spPr>
          <a:xfrm>
            <a:off x="5943600" y="2834640"/>
            <a:ext cx="438912" cy="466344"/>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10</a:t>
            </a:r>
          </a:p>
        </p:txBody>
      </p:sp>
      <p:sp>
        <p:nvSpPr>
          <p:cNvPr id="26" name="Rectangle 25"/>
          <p:cNvSpPr/>
          <p:nvPr/>
        </p:nvSpPr>
        <p:spPr>
          <a:xfrm>
            <a:off x="6400800" y="283464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Effective Date &amp; Transition</a:t>
            </a:r>
          </a:p>
        </p:txBody>
      </p:sp>
      <p:sp>
        <p:nvSpPr>
          <p:cNvPr id="27" name="Rectangle 26"/>
          <p:cNvSpPr/>
          <p:nvPr/>
        </p:nvSpPr>
        <p:spPr>
          <a:xfrm>
            <a:off x="5943600" y="3337560"/>
            <a:ext cx="438912" cy="4663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rPr>
              <a:t>11</a:t>
            </a:r>
          </a:p>
        </p:txBody>
      </p:sp>
      <p:sp>
        <p:nvSpPr>
          <p:cNvPr id="28" name="Rectangle 27"/>
          <p:cNvSpPr/>
          <p:nvPr/>
        </p:nvSpPr>
        <p:spPr>
          <a:xfrm>
            <a:off x="6400800" y="3337560"/>
            <a:ext cx="4828032" cy="46634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50" b="0" i="0">
                <a:solidFill>
                  <a:srgbClr val="404040"/>
                </a:solidFill>
              </a:rPr>
              <a:t>Key Takeaways</a:t>
            </a:r>
          </a:p>
        </p:txBody>
      </p:sp>
      <p:sp>
        <p:nvSpPr>
          <p:cNvPr id="29" name="Rectangle 28"/>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Overview — What is IFRS 18?</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A new era for financial statement presentation</a:t>
            </a:r>
          </a:p>
        </p:txBody>
      </p:sp>
      <p:sp>
        <p:nvSpPr>
          <p:cNvPr id="7" name="Oval 6"/>
          <p:cNvSpPr/>
          <p:nvPr/>
        </p:nvSpPr>
        <p:spPr>
          <a:xfrm>
            <a:off x="4480560" y="1371600"/>
            <a:ext cx="3200400" cy="3200400"/>
          </a:xfrm>
          <a:prstGeom prst="ellipse">
            <a:avLst/>
          </a:prstGeom>
          <a:solidFill>
            <a:srgbClr val="1F3864"/>
          </a:solidFill>
          <a:ln w="3810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i="0">
                <a:solidFill>
                  <a:srgbClr val="FFFFFF"/>
                </a:solidFill>
              </a:rPr>
              <a:t>IFRS 18</a:t>
            </a:r>
          </a:p>
        </p:txBody>
      </p:sp>
      <p:sp>
        <p:nvSpPr>
          <p:cNvPr id="8" name="Rectangle 7"/>
          <p:cNvSpPr/>
          <p:nvPr/>
        </p:nvSpPr>
        <p:spPr>
          <a:xfrm>
            <a:off x="274320" y="1371600"/>
            <a:ext cx="393192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Issued</a:t>
            </a:r>
          </a:p>
        </p:txBody>
      </p:sp>
      <p:sp>
        <p:nvSpPr>
          <p:cNvPr id="9" name="Rectangle 8"/>
          <p:cNvSpPr/>
          <p:nvPr/>
        </p:nvSpPr>
        <p:spPr>
          <a:xfrm>
            <a:off x="274320" y="1783080"/>
            <a:ext cx="3931920" cy="105156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May 2024 by the IASB</a:t>
            </a:r>
          </a:p>
          <a:p>
            <a:pPr algn="l">
              <a:spcBef>
                <a:spcPts val="300"/>
              </a:spcBef>
            </a:pPr>
            <a:r>
              <a:rPr sz="1150">
                <a:solidFill>
                  <a:srgbClr val="404040"/>
                </a:solidFill>
              </a:rPr>
              <a:t>Replaces IAS 1 (2007)</a:t>
            </a:r>
          </a:p>
          <a:p>
            <a:pPr algn="l">
              <a:spcBef>
                <a:spcPts val="300"/>
              </a:spcBef>
            </a:pPr>
            <a:r>
              <a:rPr sz="1150">
                <a:solidFill>
                  <a:srgbClr val="404040"/>
                </a:solidFill>
              </a:rPr>
              <a:t>New standard for all IFRS reporters</a:t>
            </a:r>
          </a:p>
        </p:txBody>
      </p:sp>
      <p:sp>
        <p:nvSpPr>
          <p:cNvPr id="10" name="Rectangle 9"/>
          <p:cNvSpPr/>
          <p:nvPr/>
        </p:nvSpPr>
        <p:spPr>
          <a:xfrm>
            <a:off x="8046720" y="1371600"/>
            <a:ext cx="393192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Objective</a:t>
            </a:r>
          </a:p>
        </p:txBody>
      </p:sp>
      <p:sp>
        <p:nvSpPr>
          <p:cNvPr id="11" name="Rectangle 10"/>
          <p:cNvSpPr/>
          <p:nvPr/>
        </p:nvSpPr>
        <p:spPr>
          <a:xfrm>
            <a:off x="8046720" y="1783080"/>
            <a:ext cx="3931920" cy="105156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Improve comparability &amp; transparency</a:t>
            </a:r>
          </a:p>
          <a:p>
            <a:pPr algn="l">
              <a:spcBef>
                <a:spcPts val="300"/>
              </a:spcBef>
            </a:pPr>
            <a:r>
              <a:rPr sz="1150">
                <a:solidFill>
                  <a:srgbClr val="404040"/>
                </a:solidFill>
              </a:rPr>
              <a:t>of financial statements</a:t>
            </a:r>
          </a:p>
          <a:p>
            <a:pPr algn="l">
              <a:spcBef>
                <a:spcPts val="300"/>
              </a:spcBef>
            </a:pPr>
            <a:r>
              <a:rPr sz="1150">
                <a:solidFill>
                  <a:srgbClr val="404040"/>
                </a:solidFill>
              </a:rPr>
              <a:t>across entities and industries</a:t>
            </a:r>
          </a:p>
        </p:txBody>
      </p:sp>
      <p:sp>
        <p:nvSpPr>
          <p:cNvPr id="12" name="Rectangle 11"/>
          <p:cNvSpPr/>
          <p:nvPr/>
        </p:nvSpPr>
        <p:spPr>
          <a:xfrm>
            <a:off x="274320" y="3017520"/>
            <a:ext cx="393192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Scope</a:t>
            </a:r>
          </a:p>
        </p:txBody>
      </p:sp>
      <p:sp>
        <p:nvSpPr>
          <p:cNvPr id="13" name="Rectangle 12"/>
          <p:cNvSpPr/>
          <p:nvPr/>
        </p:nvSpPr>
        <p:spPr>
          <a:xfrm>
            <a:off x="274320" y="3429000"/>
            <a:ext cx="3931920" cy="105156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All entities preparing financial</a:t>
            </a:r>
          </a:p>
          <a:p>
            <a:pPr algn="l">
              <a:spcBef>
                <a:spcPts val="300"/>
              </a:spcBef>
            </a:pPr>
            <a:r>
              <a:rPr sz="1150">
                <a:solidFill>
                  <a:srgbClr val="404040"/>
                </a:solidFill>
              </a:rPr>
              <a:t>statements under IFRS</a:t>
            </a:r>
          </a:p>
          <a:p>
            <a:pPr algn="l">
              <a:spcBef>
                <a:spcPts val="300"/>
              </a:spcBef>
            </a:pPr>
            <a:r>
              <a:rPr sz="1150">
                <a:solidFill>
                  <a:srgbClr val="404040"/>
                </a:solidFill>
              </a:rPr>
              <a:t>(all industries, all sizes)</a:t>
            </a:r>
          </a:p>
        </p:txBody>
      </p:sp>
      <p:sp>
        <p:nvSpPr>
          <p:cNvPr id="14" name="Rectangle 13"/>
          <p:cNvSpPr/>
          <p:nvPr/>
        </p:nvSpPr>
        <p:spPr>
          <a:xfrm>
            <a:off x="8046720" y="3017520"/>
            <a:ext cx="393192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Effective Date</a:t>
            </a:r>
          </a:p>
        </p:txBody>
      </p:sp>
      <p:sp>
        <p:nvSpPr>
          <p:cNvPr id="15" name="Rectangle 14"/>
          <p:cNvSpPr/>
          <p:nvPr/>
        </p:nvSpPr>
        <p:spPr>
          <a:xfrm>
            <a:off x="8046720" y="3429000"/>
            <a:ext cx="3931920" cy="105156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Annual periods beginning</a:t>
            </a:r>
          </a:p>
          <a:p>
            <a:pPr algn="l">
              <a:spcBef>
                <a:spcPts val="300"/>
              </a:spcBef>
            </a:pPr>
            <a:r>
              <a:rPr sz="1150">
                <a:solidFill>
                  <a:srgbClr val="404040"/>
                </a:solidFill>
              </a:rPr>
              <a:t>on or after 1 January 2027</a:t>
            </a:r>
          </a:p>
          <a:p>
            <a:pPr algn="l">
              <a:spcBef>
                <a:spcPts val="300"/>
              </a:spcBef>
            </a:pPr>
            <a:r>
              <a:rPr sz="1150">
                <a:solidFill>
                  <a:srgbClr val="404040"/>
                </a:solidFill>
              </a:rPr>
              <a:t>Early adoption permitted</a:t>
            </a:r>
          </a:p>
        </p:txBody>
      </p:sp>
      <p:sp>
        <p:nvSpPr>
          <p:cNvPr id="16" name="Rectangle 15"/>
          <p:cNvSpPr/>
          <p:nvPr/>
        </p:nvSpPr>
        <p:spPr>
          <a:xfrm>
            <a:off x="274320" y="4663440"/>
            <a:ext cx="3931920" cy="4114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Key Change 1</a:t>
            </a:r>
          </a:p>
        </p:txBody>
      </p:sp>
      <p:sp>
        <p:nvSpPr>
          <p:cNvPr id="17" name="Rectangle 16"/>
          <p:cNvSpPr/>
          <p:nvPr/>
        </p:nvSpPr>
        <p:spPr>
          <a:xfrm>
            <a:off x="274320" y="5074920"/>
            <a:ext cx="3931920" cy="105156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Structured P&amp;L with three</a:t>
            </a:r>
          </a:p>
          <a:p>
            <a:pPr algn="l">
              <a:spcBef>
                <a:spcPts val="300"/>
              </a:spcBef>
            </a:pPr>
            <a:r>
              <a:rPr sz="1150">
                <a:solidFill>
                  <a:srgbClr val="404040"/>
                </a:solidFill>
              </a:rPr>
              <a:t>mandatory income categories:</a:t>
            </a:r>
          </a:p>
          <a:p>
            <a:pPr algn="l">
              <a:spcBef>
                <a:spcPts val="300"/>
              </a:spcBef>
            </a:pPr>
            <a:r>
              <a:rPr sz="1150">
                <a:solidFill>
                  <a:srgbClr val="404040"/>
                </a:solidFill>
              </a:rPr>
              <a:t>Operating · Investing · Financing</a:t>
            </a:r>
          </a:p>
        </p:txBody>
      </p:sp>
      <p:sp>
        <p:nvSpPr>
          <p:cNvPr id="18" name="Rectangle 17"/>
          <p:cNvSpPr/>
          <p:nvPr/>
        </p:nvSpPr>
        <p:spPr>
          <a:xfrm>
            <a:off x="8046720" y="4663440"/>
            <a:ext cx="3931920" cy="4114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Key Change 2</a:t>
            </a:r>
          </a:p>
        </p:txBody>
      </p:sp>
      <p:sp>
        <p:nvSpPr>
          <p:cNvPr id="19" name="Rectangle 18"/>
          <p:cNvSpPr/>
          <p:nvPr/>
        </p:nvSpPr>
        <p:spPr>
          <a:xfrm>
            <a:off x="8046720" y="5074920"/>
            <a:ext cx="3931920" cy="105156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New rules for Management-defined</a:t>
            </a:r>
          </a:p>
          <a:p>
            <a:pPr algn="l">
              <a:spcBef>
                <a:spcPts val="300"/>
              </a:spcBef>
            </a:pPr>
            <a:r>
              <a:rPr sz="1150">
                <a:solidFill>
                  <a:srgbClr val="404040"/>
                </a:solidFill>
              </a:rPr>
              <a:t>Performance Measures (MPMs)</a:t>
            </a:r>
          </a:p>
          <a:p>
            <a:pPr algn="l">
              <a:spcBef>
                <a:spcPts val="300"/>
              </a:spcBef>
            </a:pPr>
            <a:r>
              <a:rPr sz="1150">
                <a:solidFill>
                  <a:srgbClr val="404040"/>
                </a:solidFill>
              </a:rPr>
              <a:t>with reconciliation to IFRS line items</a:t>
            </a:r>
          </a:p>
        </p:txBody>
      </p:sp>
      <p:sp>
        <p:nvSpPr>
          <p:cNvPr id="20" name="Can 19"/>
          <p:cNvSpPr/>
          <p:nvPr/>
        </p:nvSpPr>
        <p:spPr>
          <a:xfrm>
            <a:off x="4251960" y="2011680"/>
            <a:ext cx="32004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n 20"/>
          <p:cNvSpPr/>
          <p:nvPr/>
        </p:nvSpPr>
        <p:spPr>
          <a:xfrm>
            <a:off x="4251960" y="3657600"/>
            <a:ext cx="32004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n 21"/>
          <p:cNvSpPr/>
          <p:nvPr/>
        </p:nvSpPr>
        <p:spPr>
          <a:xfrm>
            <a:off x="7726679" y="2011680"/>
            <a:ext cx="32004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n 22"/>
          <p:cNvSpPr/>
          <p:nvPr/>
        </p:nvSpPr>
        <p:spPr>
          <a:xfrm>
            <a:off x="7726679" y="3657600"/>
            <a:ext cx="32004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Why IFRS 18?</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Limitations of IAS 1 that IFRS 18 addresses</a:t>
            </a:r>
          </a:p>
        </p:txBody>
      </p:sp>
      <p:sp>
        <p:nvSpPr>
          <p:cNvPr id="7" name="Rectangle 6"/>
          <p:cNvSpPr/>
          <p:nvPr/>
        </p:nvSpPr>
        <p:spPr>
          <a:xfrm>
            <a:off x="274320" y="1280160"/>
            <a:ext cx="5486400" cy="457200"/>
          </a:xfrm>
          <a:prstGeom prst="rect">
            <a:avLst/>
          </a:prstGeom>
          <a:solidFill>
            <a:srgbClr val="C050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rPr>
              <a:t>⚠  Limitations of IAS 1</a:t>
            </a:r>
          </a:p>
        </p:txBody>
      </p:sp>
      <p:sp>
        <p:nvSpPr>
          <p:cNvPr id="8" name="Rectangle 7"/>
          <p:cNvSpPr/>
          <p:nvPr/>
        </p:nvSpPr>
        <p:spPr>
          <a:xfrm>
            <a:off x="6126480" y="1280160"/>
            <a:ext cx="5486400" cy="4572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rPr>
              <a:t>✔  How IFRS 18 Solves Them</a:t>
            </a:r>
          </a:p>
        </p:txBody>
      </p:sp>
      <p:sp>
        <p:nvSpPr>
          <p:cNvPr id="9" name="Rectangle 8"/>
          <p:cNvSpPr/>
          <p:nvPr/>
        </p:nvSpPr>
        <p:spPr>
          <a:xfrm>
            <a:off x="274320" y="1874519"/>
            <a:ext cx="5486400" cy="804672"/>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C05020"/>
                </a:solidFill>
              </a:rPr>
              <a:t>No mandatory categories in P&amp;L</a:t>
            </a:r>
          </a:p>
          <a:p>
            <a:pPr algn="l"/>
            <a:r>
              <a:rPr sz="1100">
                <a:solidFill>
                  <a:srgbClr val="404040"/>
                </a:solidFill>
              </a:rPr>
              <a:t>→ entities classify items inconsistently</a:t>
            </a:r>
          </a:p>
        </p:txBody>
      </p:sp>
      <p:sp>
        <p:nvSpPr>
          <p:cNvPr id="10" name="Rectangle 9"/>
          <p:cNvSpPr/>
          <p:nvPr/>
        </p:nvSpPr>
        <p:spPr>
          <a:xfrm>
            <a:off x="6126480" y="1874519"/>
            <a:ext cx="5486400" cy="804672"/>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70AD47"/>
                </a:solidFill>
              </a:rPr>
              <a:t>Three mandatory income categories:</a:t>
            </a:r>
          </a:p>
          <a:p>
            <a:pPr algn="l"/>
            <a:r>
              <a:rPr sz="1100">
                <a:solidFill>
                  <a:srgbClr val="404040"/>
                </a:solidFill>
              </a:rPr>
              <a:t>Operating, Investing &amp; Financing</a:t>
            </a:r>
          </a:p>
        </p:txBody>
      </p:sp>
      <p:sp>
        <p:nvSpPr>
          <p:cNvPr id="11" name="Can 10"/>
          <p:cNvSpPr/>
          <p:nvPr/>
        </p:nvSpPr>
        <p:spPr>
          <a:xfrm>
            <a:off x="5806440" y="2148839"/>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743199"/>
            <a:ext cx="5486400" cy="804672"/>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C05020"/>
                </a:solidFill>
              </a:rPr>
              <a:t>No required subtotals</a:t>
            </a:r>
          </a:p>
          <a:p>
            <a:pPr algn="l"/>
            <a:r>
              <a:rPr sz="1100">
                <a:solidFill>
                  <a:srgbClr val="404040"/>
                </a:solidFill>
              </a:rPr>
              <a:t>→ operating profit varies across companies</a:t>
            </a:r>
          </a:p>
        </p:txBody>
      </p:sp>
      <p:sp>
        <p:nvSpPr>
          <p:cNvPr id="13" name="Rectangle 12"/>
          <p:cNvSpPr/>
          <p:nvPr/>
        </p:nvSpPr>
        <p:spPr>
          <a:xfrm>
            <a:off x="6126480" y="2743199"/>
            <a:ext cx="5486400" cy="804672"/>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70AD47"/>
                </a:solidFill>
              </a:rPr>
              <a:t>Required subtotals including</a:t>
            </a:r>
          </a:p>
          <a:p>
            <a:pPr algn="l"/>
            <a:r>
              <a:rPr sz="1100">
                <a:solidFill>
                  <a:srgbClr val="404040"/>
                </a:solidFill>
              </a:rPr>
              <a:t>Operating Profit and Profit before financing</a:t>
            </a:r>
          </a:p>
        </p:txBody>
      </p:sp>
      <p:sp>
        <p:nvSpPr>
          <p:cNvPr id="14" name="Can 13"/>
          <p:cNvSpPr/>
          <p:nvPr/>
        </p:nvSpPr>
        <p:spPr>
          <a:xfrm>
            <a:off x="5806440" y="3017519"/>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611879"/>
            <a:ext cx="5486400" cy="804672"/>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C05020"/>
                </a:solidFill>
              </a:rPr>
              <a:t>Unrestricted use of non-GAAP measures</a:t>
            </a:r>
          </a:p>
          <a:p>
            <a:pPr algn="l"/>
            <a:r>
              <a:rPr sz="1100">
                <a:solidFill>
                  <a:srgbClr val="404040"/>
                </a:solidFill>
              </a:rPr>
              <a:t>→ reduces comparability</a:t>
            </a:r>
          </a:p>
        </p:txBody>
      </p:sp>
      <p:sp>
        <p:nvSpPr>
          <p:cNvPr id="16" name="Rectangle 15"/>
          <p:cNvSpPr/>
          <p:nvPr/>
        </p:nvSpPr>
        <p:spPr>
          <a:xfrm>
            <a:off x="6126480" y="3611879"/>
            <a:ext cx="5486400" cy="804672"/>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70AD47"/>
                </a:solidFill>
              </a:rPr>
              <a:t>MPM framework with mandatory</a:t>
            </a:r>
          </a:p>
          <a:p>
            <a:pPr algn="l"/>
            <a:r>
              <a:rPr sz="1100">
                <a:solidFill>
                  <a:srgbClr val="404040"/>
                </a:solidFill>
              </a:rPr>
              <a:t>reconciliation and prominence rules</a:t>
            </a:r>
          </a:p>
        </p:txBody>
      </p:sp>
      <p:sp>
        <p:nvSpPr>
          <p:cNvPr id="17" name="Can 16"/>
          <p:cNvSpPr/>
          <p:nvPr/>
        </p:nvSpPr>
        <p:spPr>
          <a:xfrm>
            <a:off x="5806440" y="3886199"/>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480559"/>
            <a:ext cx="5486400" cy="804672"/>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C05020"/>
                </a:solidFill>
              </a:rPr>
              <a:t>Vague aggregation guidance</a:t>
            </a:r>
          </a:p>
          <a:p>
            <a:pPr algn="l"/>
            <a:r>
              <a:rPr sz="1100">
                <a:solidFill>
                  <a:srgbClr val="404040"/>
                </a:solidFill>
              </a:rPr>
              <a:t>→ obscures material information</a:t>
            </a:r>
          </a:p>
        </p:txBody>
      </p:sp>
      <p:sp>
        <p:nvSpPr>
          <p:cNvPr id="19" name="Rectangle 18"/>
          <p:cNvSpPr/>
          <p:nvPr/>
        </p:nvSpPr>
        <p:spPr>
          <a:xfrm>
            <a:off x="6126480" y="4480559"/>
            <a:ext cx="5486400" cy="804672"/>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70AD47"/>
                </a:solidFill>
              </a:rPr>
              <a:t>Clear principles: material items</a:t>
            </a:r>
          </a:p>
          <a:p>
            <a:pPr algn="l"/>
            <a:r>
              <a:rPr sz="1100">
                <a:solidFill>
                  <a:srgbClr val="404040"/>
                </a:solidFill>
              </a:rPr>
              <a:t>must be separately presented</a:t>
            </a:r>
          </a:p>
        </p:txBody>
      </p:sp>
      <p:sp>
        <p:nvSpPr>
          <p:cNvPr id="20" name="Can 19"/>
          <p:cNvSpPr/>
          <p:nvPr/>
        </p:nvSpPr>
        <p:spPr>
          <a:xfrm>
            <a:off x="5806440" y="4754879"/>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5349239"/>
            <a:ext cx="5486400" cy="804672"/>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C05020"/>
                </a:solidFill>
              </a:rPr>
              <a:t>Inconsistent P&amp;L and cash flow</a:t>
            </a:r>
          </a:p>
          <a:p>
            <a:pPr algn="l"/>
            <a:r>
              <a:rPr sz="1100">
                <a:solidFill>
                  <a:srgbClr val="404040"/>
                </a:solidFill>
              </a:rPr>
              <a:t>presentation for investments</a:t>
            </a:r>
          </a:p>
        </p:txBody>
      </p:sp>
      <p:sp>
        <p:nvSpPr>
          <p:cNvPr id="22" name="Rectangle 21"/>
          <p:cNvSpPr/>
          <p:nvPr/>
        </p:nvSpPr>
        <p:spPr>
          <a:xfrm>
            <a:off x="6126480" y="5349239"/>
            <a:ext cx="5486400" cy="804672"/>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l"/>
            <a:r>
              <a:rPr sz="1150" b="1">
                <a:solidFill>
                  <a:srgbClr val="70AD47"/>
                </a:solidFill>
              </a:rPr>
              <a:t>Integral vs. non-integral associates</a:t>
            </a:r>
          </a:p>
          <a:p>
            <a:pPr algn="l"/>
            <a:r>
              <a:rPr sz="1100">
                <a:solidFill>
                  <a:srgbClr val="404040"/>
                </a:solidFill>
              </a:rPr>
              <a:t>align P&amp;L and cash flow presentation</a:t>
            </a:r>
          </a:p>
        </p:txBody>
      </p:sp>
      <p:sp>
        <p:nvSpPr>
          <p:cNvPr id="23" name="Can 22"/>
          <p:cNvSpPr/>
          <p:nvPr/>
        </p:nvSpPr>
        <p:spPr>
          <a:xfrm>
            <a:off x="5806440" y="5623559"/>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New Statement of Profit or Loss</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A structured, comparable presentation of income and expenses</a:t>
            </a:r>
          </a:p>
        </p:txBody>
      </p:sp>
      <p:sp>
        <p:nvSpPr>
          <p:cNvPr id="7" name="Rectangle 6"/>
          <p:cNvSpPr/>
          <p:nvPr/>
        </p:nvSpPr>
        <p:spPr>
          <a:xfrm>
            <a:off x="4023360" y="1371600"/>
            <a:ext cx="4114800" cy="594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rPr>
              <a:t>Revenue</a:t>
            </a:r>
          </a:p>
        </p:txBody>
      </p:sp>
      <p:sp>
        <p:nvSpPr>
          <p:cNvPr id="8" name="Rectangle 7"/>
          <p:cNvSpPr/>
          <p:nvPr/>
        </p:nvSpPr>
        <p:spPr>
          <a:xfrm>
            <a:off x="274320" y="2148840"/>
            <a:ext cx="3566160" cy="6400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OPERATING
CATEGORY</a:t>
            </a:r>
          </a:p>
        </p:txBody>
      </p:sp>
      <p:sp>
        <p:nvSpPr>
          <p:cNvPr id="9" name="Rectangle 8"/>
          <p:cNvSpPr/>
          <p:nvPr/>
        </p:nvSpPr>
        <p:spPr>
          <a:xfrm>
            <a:off x="274320" y="2834640"/>
            <a:ext cx="3566160" cy="2103120"/>
          </a:xfrm>
          <a:prstGeom prst="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l">
              <a:spcBef>
                <a:spcPts val="200"/>
              </a:spcBef>
            </a:pPr>
            <a:r>
              <a:rPr sz="1150">
                <a:solidFill>
                  <a:srgbClr val="404040"/>
                </a:solidFill>
              </a:rPr>
              <a:t>+ Revenue</a:t>
            </a:r>
          </a:p>
          <a:p>
            <a:pPr algn="l">
              <a:spcBef>
                <a:spcPts val="200"/>
              </a:spcBef>
            </a:pPr>
            <a:r>
              <a:rPr sz="1150">
                <a:solidFill>
                  <a:srgbClr val="404040"/>
                </a:solidFill>
              </a:rPr>
              <a:t>+ Other operating income</a:t>
            </a:r>
          </a:p>
          <a:p>
            <a:pPr algn="l">
              <a:spcBef>
                <a:spcPts val="200"/>
              </a:spcBef>
            </a:pPr>
            <a:r>
              <a:rPr sz="1150">
                <a:solidFill>
                  <a:srgbClr val="404040"/>
                </a:solidFill>
              </a:rPr>
              <a:t>– Cost of sales</a:t>
            </a:r>
          </a:p>
          <a:p>
            <a:pPr algn="l">
              <a:spcBef>
                <a:spcPts val="200"/>
              </a:spcBef>
            </a:pPr>
            <a:r>
              <a:rPr sz="1150">
                <a:solidFill>
                  <a:srgbClr val="404040"/>
                </a:solidFill>
              </a:rPr>
              <a:t>– Operating expenses</a:t>
            </a:r>
          </a:p>
          <a:p>
            <a:pPr algn="l">
              <a:spcBef>
                <a:spcPts val="200"/>
              </a:spcBef>
            </a:pPr>
            <a:r>
              <a:rPr sz="1150">
                <a:solidFill>
                  <a:srgbClr val="404040"/>
                </a:solidFill>
              </a:rPr>
              <a:t>– D&amp;A</a:t>
            </a:r>
          </a:p>
        </p:txBody>
      </p:sp>
      <p:sp>
        <p:nvSpPr>
          <p:cNvPr id="10" name="Rectangle 9"/>
          <p:cNvSpPr/>
          <p:nvPr/>
        </p:nvSpPr>
        <p:spPr>
          <a:xfrm>
            <a:off x="4343400" y="2148840"/>
            <a:ext cx="3566160" cy="6400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INVESTING
CATEGORY</a:t>
            </a:r>
          </a:p>
        </p:txBody>
      </p:sp>
      <p:sp>
        <p:nvSpPr>
          <p:cNvPr id="11" name="Rectangle 10"/>
          <p:cNvSpPr/>
          <p:nvPr/>
        </p:nvSpPr>
        <p:spPr>
          <a:xfrm>
            <a:off x="4343400" y="2834640"/>
            <a:ext cx="3566160" cy="2103120"/>
          </a:xfrm>
          <a:prstGeom prst="rect">
            <a:avLst/>
          </a:prstGeom>
          <a:solidFill>
            <a:srgbClr val="FFFFFF"/>
          </a:solidFill>
          <a:ln w="19050">
            <a:solidFill>
              <a:srgbClr val="1F5C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l">
              <a:spcBef>
                <a:spcPts val="200"/>
              </a:spcBef>
            </a:pPr>
            <a:r>
              <a:rPr sz="1150">
                <a:solidFill>
                  <a:srgbClr val="404040"/>
                </a:solidFill>
              </a:rPr>
              <a:t>+ Income from non-integral</a:t>
            </a:r>
          </a:p>
          <a:p>
            <a:pPr algn="l">
              <a:spcBef>
                <a:spcPts val="200"/>
              </a:spcBef>
            </a:pPr>
            <a:r>
              <a:rPr sz="1150">
                <a:solidFill>
                  <a:srgbClr val="404040"/>
                </a:solidFill>
              </a:rPr>
              <a:t>   associates &amp; JVs</a:t>
            </a:r>
          </a:p>
          <a:p>
            <a:pPr algn="l">
              <a:spcBef>
                <a:spcPts val="200"/>
              </a:spcBef>
            </a:pPr>
            <a:r>
              <a:rPr sz="1150">
                <a:solidFill>
                  <a:srgbClr val="404040"/>
                </a:solidFill>
              </a:rPr>
              <a:t>+ Returns on surplus cash</a:t>
            </a:r>
          </a:p>
          <a:p>
            <a:pPr algn="l">
              <a:spcBef>
                <a:spcPts val="200"/>
              </a:spcBef>
            </a:pPr>
            <a:r>
              <a:rPr sz="1150">
                <a:solidFill>
                  <a:srgbClr val="404040"/>
                </a:solidFill>
              </a:rPr>
              <a:t>– Related costs</a:t>
            </a:r>
          </a:p>
        </p:txBody>
      </p:sp>
      <p:sp>
        <p:nvSpPr>
          <p:cNvPr id="12" name="Rectangle 11"/>
          <p:cNvSpPr/>
          <p:nvPr/>
        </p:nvSpPr>
        <p:spPr>
          <a:xfrm>
            <a:off x="8412480" y="2148840"/>
            <a:ext cx="3566160" cy="6400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FINANCING
CATEGORY</a:t>
            </a:r>
          </a:p>
        </p:txBody>
      </p:sp>
      <p:sp>
        <p:nvSpPr>
          <p:cNvPr id="13" name="Rectangle 12"/>
          <p:cNvSpPr/>
          <p:nvPr/>
        </p:nvSpPr>
        <p:spPr>
          <a:xfrm>
            <a:off x="8412480" y="2834640"/>
            <a:ext cx="3566160" cy="2103120"/>
          </a:xfrm>
          <a:prstGeom prst="rect">
            <a:avLst/>
          </a:prstGeom>
          <a:solidFill>
            <a:srgbClr val="FFFFFF"/>
          </a:solidFill>
          <a:ln w="190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l">
              <a:spcBef>
                <a:spcPts val="200"/>
              </a:spcBef>
            </a:pPr>
            <a:r>
              <a:rPr sz="1150">
                <a:solidFill>
                  <a:srgbClr val="404040"/>
                </a:solidFill>
              </a:rPr>
              <a:t>+ Gains on financial liabilities</a:t>
            </a:r>
          </a:p>
          <a:p>
            <a:pPr algn="l">
              <a:spcBef>
                <a:spcPts val="200"/>
              </a:spcBef>
            </a:pPr>
            <a:r>
              <a:rPr sz="1150">
                <a:solidFill>
                  <a:srgbClr val="404040"/>
                </a:solidFill>
              </a:rPr>
              <a:t>– Interest expense on debt</a:t>
            </a:r>
          </a:p>
          <a:p>
            <a:pPr algn="l">
              <a:spcBef>
                <a:spcPts val="200"/>
              </a:spcBef>
            </a:pPr>
            <a:r>
              <a:rPr sz="1150">
                <a:solidFill>
                  <a:srgbClr val="404040"/>
                </a:solidFill>
              </a:rPr>
              <a:t>– Other financing costs</a:t>
            </a:r>
          </a:p>
          <a:p>
            <a:pPr algn="l">
              <a:spcBef>
                <a:spcPts val="200"/>
              </a:spcBef>
            </a:pPr>
            <a:r>
              <a:rPr sz="1150">
                <a:solidFill>
                  <a:srgbClr val="404040"/>
                </a:solidFill>
              </a:rPr>
              <a:t>– FX on borrowings</a:t>
            </a:r>
          </a:p>
        </p:txBody>
      </p:sp>
      <p:sp>
        <p:nvSpPr>
          <p:cNvPr id="14" name="Rectangle 13"/>
          <p:cNvSpPr/>
          <p:nvPr/>
        </p:nvSpPr>
        <p:spPr>
          <a:xfrm>
            <a:off x="274320" y="5074920"/>
            <a:ext cx="3566160" cy="502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Operating Profit</a:t>
            </a:r>
          </a:p>
        </p:txBody>
      </p:sp>
      <p:sp>
        <p:nvSpPr>
          <p:cNvPr id="15" name="Rectangle 14"/>
          <p:cNvSpPr/>
          <p:nvPr/>
        </p:nvSpPr>
        <p:spPr>
          <a:xfrm>
            <a:off x="4343400" y="5074920"/>
            <a:ext cx="3566160" cy="50292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 Investing Income / Expense</a:t>
            </a:r>
          </a:p>
        </p:txBody>
      </p:sp>
      <p:sp>
        <p:nvSpPr>
          <p:cNvPr id="16" name="Rectangle 15"/>
          <p:cNvSpPr/>
          <p:nvPr/>
        </p:nvSpPr>
        <p:spPr>
          <a:xfrm>
            <a:off x="8412480" y="5074920"/>
            <a:ext cx="3566160" cy="502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 Financing Income / Expense</a:t>
            </a:r>
          </a:p>
        </p:txBody>
      </p:sp>
      <p:sp>
        <p:nvSpPr>
          <p:cNvPr id="17" name="Rectangle 16"/>
          <p:cNvSpPr/>
          <p:nvPr/>
        </p:nvSpPr>
        <p:spPr>
          <a:xfrm>
            <a:off x="3200400" y="5715000"/>
            <a:ext cx="5760720" cy="5943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rPr>
              <a:t>PROFIT BEFORE TAX</a:t>
            </a:r>
          </a:p>
        </p:txBody>
      </p:sp>
      <p:sp>
        <p:nvSpPr>
          <p:cNvPr id="18" name="Bevel 17"/>
          <p:cNvSpPr/>
          <p:nvPr/>
        </p:nvSpPr>
        <p:spPr>
          <a:xfrm>
            <a:off x="1920240" y="4800600"/>
            <a:ext cx="274320" cy="256032"/>
          </a:xfrm>
          <a:prstGeom prst="bevel">
            <a:avLst/>
          </a:prstGeom>
          <a:solidFill>
            <a:srgbClr val="7F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evel 18"/>
          <p:cNvSpPr/>
          <p:nvPr/>
        </p:nvSpPr>
        <p:spPr>
          <a:xfrm>
            <a:off x="6035040" y="4800600"/>
            <a:ext cx="274320" cy="256032"/>
          </a:xfrm>
          <a:prstGeom prst="bevel">
            <a:avLst/>
          </a:prstGeom>
          <a:solidFill>
            <a:srgbClr val="7F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evel 19"/>
          <p:cNvSpPr/>
          <p:nvPr/>
        </p:nvSpPr>
        <p:spPr>
          <a:xfrm>
            <a:off x="10149840" y="4800600"/>
            <a:ext cx="274320" cy="256032"/>
          </a:xfrm>
          <a:prstGeom prst="bevel">
            <a:avLst/>
          </a:prstGeom>
          <a:solidFill>
            <a:srgbClr val="7F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The Operating Category</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Income and expenses from the entity's main business activities</a:t>
            </a:r>
          </a:p>
        </p:txBody>
      </p:sp>
      <p:sp>
        <p:nvSpPr>
          <p:cNvPr id="7" name="Rectangle 6"/>
          <p:cNvSpPr/>
          <p:nvPr/>
        </p:nvSpPr>
        <p:spPr>
          <a:xfrm>
            <a:off x="274320" y="1371600"/>
            <a:ext cx="4480560" cy="49377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l">
              <a:spcBef>
                <a:spcPts val="100"/>
              </a:spcBef>
            </a:pPr>
            <a:r>
              <a:rPr sz="1200" b="0" i="0">
                <a:solidFill>
                  <a:srgbClr val="FFFFFF"/>
                </a:solidFill>
              </a:rPr>
              <a:t/>
            </a:r>
            <a:r>
              <a:rPr sz="1700" b="1">
                <a:solidFill>
                  <a:srgbClr val="FFFFFF"/>
                </a:solidFill>
              </a:rPr>
              <a:t>Definition</a:t>
            </a:r>
          </a:p>
          <a:p>
            <a:pPr algn="l">
              <a:spcBef>
                <a:spcPts val="100"/>
              </a:spcBef>
            </a:pPr>
            <a:r>
              <a:rPr sz="600" b="0">
                <a:solidFill>
                  <a:srgbClr val="FFFFFF"/>
                </a:solidFill>
              </a:rPr>
              <a:t/>
            </a:r>
          </a:p>
          <a:p>
            <a:pPr algn="l">
              <a:spcBef>
                <a:spcPts val="100"/>
              </a:spcBef>
            </a:pPr>
            <a:r>
              <a:rPr sz="1200" b="0">
                <a:solidFill>
                  <a:srgbClr val="FFFFFF"/>
                </a:solidFill>
              </a:rPr>
              <a:t>The RESIDUAL category — it captures all</a:t>
            </a:r>
          </a:p>
          <a:p>
            <a:pPr algn="l">
              <a:spcBef>
                <a:spcPts val="100"/>
              </a:spcBef>
            </a:pPr>
            <a:r>
              <a:rPr sz="1200" b="0">
                <a:solidFill>
                  <a:srgbClr val="FFFFFF"/>
                </a:solidFill>
              </a:rPr>
              <a:t>income and expenses NOT classified in the</a:t>
            </a:r>
          </a:p>
          <a:p>
            <a:pPr algn="l">
              <a:spcBef>
                <a:spcPts val="100"/>
              </a:spcBef>
            </a:pPr>
            <a:r>
              <a:rPr sz="1200" b="0">
                <a:solidFill>
                  <a:srgbClr val="FFFFFF"/>
                </a:solidFill>
              </a:rPr>
              <a:t>Investing or Financing categories.</a:t>
            </a:r>
          </a:p>
          <a:p>
            <a:pPr algn="l">
              <a:spcBef>
                <a:spcPts val="100"/>
              </a:spcBef>
            </a:pPr>
            <a:r>
              <a:rPr sz="600" b="0">
                <a:solidFill>
                  <a:srgbClr val="FFFFFF"/>
                </a:solidFill>
              </a:rPr>
              <a:t/>
            </a:r>
          </a:p>
          <a:p>
            <a:pPr algn="l">
              <a:spcBef>
                <a:spcPts val="100"/>
              </a:spcBef>
            </a:pPr>
            <a:r>
              <a:rPr sz="1300" b="1">
                <a:solidFill>
                  <a:srgbClr val="ED7D31"/>
                </a:solidFill>
              </a:rPr>
              <a:t>Always includes:</a:t>
            </a:r>
          </a:p>
          <a:p>
            <a:pPr algn="l">
              <a:spcBef>
                <a:spcPts val="100"/>
              </a:spcBef>
            </a:pPr>
            <a:r>
              <a:rPr sz="1200" b="0">
                <a:solidFill>
                  <a:srgbClr val="FFFFFF"/>
                </a:solidFill>
              </a:rPr>
              <a:t>  •  Revenue from contracts with customers</a:t>
            </a:r>
          </a:p>
          <a:p>
            <a:pPr algn="l">
              <a:spcBef>
                <a:spcPts val="100"/>
              </a:spcBef>
            </a:pPr>
            <a:r>
              <a:rPr sz="1200" b="0">
                <a:solidFill>
                  <a:srgbClr val="FFFFFF"/>
                </a:solidFill>
              </a:rPr>
              <a:t>  •  Cost of sales</a:t>
            </a:r>
          </a:p>
          <a:p>
            <a:pPr algn="l">
              <a:spcBef>
                <a:spcPts val="100"/>
              </a:spcBef>
            </a:pPr>
            <a:r>
              <a:rPr sz="1200" b="0">
                <a:solidFill>
                  <a:srgbClr val="FFFFFF"/>
                </a:solidFill>
              </a:rPr>
              <a:t>  •  Selling, general &amp; administrative costs</a:t>
            </a:r>
          </a:p>
          <a:p>
            <a:pPr algn="l">
              <a:spcBef>
                <a:spcPts val="100"/>
              </a:spcBef>
            </a:pPr>
            <a:r>
              <a:rPr sz="1200" b="0">
                <a:solidFill>
                  <a:srgbClr val="FFFFFF"/>
                </a:solidFill>
              </a:rPr>
              <a:t>  •  Depreciation &amp; amortisation</a:t>
            </a:r>
          </a:p>
          <a:p>
            <a:pPr algn="l">
              <a:spcBef>
                <a:spcPts val="100"/>
              </a:spcBef>
            </a:pPr>
            <a:r>
              <a:rPr sz="1200" b="0">
                <a:solidFill>
                  <a:srgbClr val="FFFFFF"/>
                </a:solidFill>
              </a:rPr>
              <a:t>  •  Impairment of operating assets</a:t>
            </a:r>
          </a:p>
          <a:p>
            <a:pPr algn="l">
              <a:spcBef>
                <a:spcPts val="100"/>
              </a:spcBef>
            </a:pPr>
            <a:r>
              <a:rPr sz="1200" b="0">
                <a:solidFill>
                  <a:srgbClr val="FFFFFF"/>
                </a:solidFill>
              </a:rPr>
              <a:t>  •  Share of profit of integral associates</a:t>
            </a:r>
          </a:p>
          <a:p>
            <a:pPr algn="l">
              <a:spcBef>
                <a:spcPts val="100"/>
              </a:spcBef>
            </a:pPr>
            <a:r>
              <a:rPr sz="1200" b="0">
                <a:solidFill>
                  <a:srgbClr val="FFFFFF"/>
                </a:solidFill>
              </a:rPr>
              <a:t>  •  FX on operating items</a:t>
            </a:r>
          </a:p>
          <a:p>
            <a:pPr algn="l">
              <a:spcBef>
                <a:spcPts val="100"/>
              </a:spcBef>
            </a:pPr>
            <a:r>
              <a:rPr sz="600" b="0">
                <a:solidFill>
                  <a:srgbClr val="FFFFFF"/>
                </a:solidFill>
              </a:rPr>
              <a:t/>
            </a:r>
          </a:p>
          <a:p>
            <a:pPr algn="l">
              <a:spcBef>
                <a:spcPts val="100"/>
              </a:spcBef>
            </a:pPr>
            <a:r>
              <a:rPr sz="1300" b="1">
                <a:solidFill>
                  <a:srgbClr val="ED7D31"/>
                </a:solidFill>
              </a:rPr>
              <a:t>May also include:</a:t>
            </a:r>
          </a:p>
          <a:p>
            <a:pPr algn="l">
              <a:spcBef>
                <a:spcPts val="100"/>
              </a:spcBef>
            </a:pPr>
            <a:r>
              <a:rPr sz="1200" b="0">
                <a:solidFill>
                  <a:srgbClr val="FFFFFF"/>
                </a:solidFill>
              </a:rPr>
              <a:t>  •  Research &amp; development costs</a:t>
            </a:r>
          </a:p>
          <a:p>
            <a:pPr algn="l">
              <a:spcBef>
                <a:spcPts val="100"/>
              </a:spcBef>
            </a:pPr>
            <a:r>
              <a:rPr sz="1200" b="0">
                <a:solidFill>
                  <a:srgbClr val="FFFFFF"/>
                </a:solidFill>
              </a:rPr>
              <a:t>  •  Government grants</a:t>
            </a:r>
          </a:p>
          <a:p>
            <a:pPr algn="l">
              <a:spcBef>
                <a:spcPts val="100"/>
              </a:spcBef>
            </a:pPr>
            <a:r>
              <a:rPr sz="1200" b="0">
                <a:solidFill>
                  <a:srgbClr val="FFFFFF"/>
                </a:solidFill>
              </a:rPr>
              <a:t>  •  Gains/losses on disposal of PP&amp;E</a:t>
            </a:r>
          </a:p>
        </p:txBody>
      </p:sp>
      <p:sp>
        <p:nvSpPr>
          <p:cNvPr id="8" name="Rectangle 7"/>
          <p:cNvSpPr/>
          <p:nvPr/>
        </p:nvSpPr>
        <p:spPr>
          <a:xfrm>
            <a:off x="4937760" y="1371600"/>
            <a:ext cx="69494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Residual Category</a:t>
            </a:r>
          </a:p>
        </p:txBody>
      </p:sp>
      <p:sp>
        <p:nvSpPr>
          <p:cNvPr id="9" name="Rectangle 8"/>
          <p:cNvSpPr/>
          <p:nvPr/>
        </p:nvSpPr>
        <p:spPr>
          <a:xfrm>
            <a:off x="4937760" y="1783080"/>
            <a:ext cx="6949440" cy="758952"/>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Operating is defined by exclusion — if an item is not Investing or Financing, it belongs here. This ensures all items are classified.</a:t>
            </a:r>
          </a:p>
        </p:txBody>
      </p:sp>
      <p:sp>
        <p:nvSpPr>
          <p:cNvPr id="10" name="Rectangle 9"/>
          <p:cNvSpPr/>
          <p:nvPr/>
        </p:nvSpPr>
        <p:spPr>
          <a:xfrm>
            <a:off x="4937760" y="2606040"/>
            <a:ext cx="69494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Integral vs. Non-Integral
Associates &amp; JVs</a:t>
            </a:r>
          </a:p>
        </p:txBody>
      </p:sp>
      <p:sp>
        <p:nvSpPr>
          <p:cNvPr id="11" name="Rectangle 10"/>
          <p:cNvSpPr/>
          <p:nvPr/>
        </p:nvSpPr>
        <p:spPr>
          <a:xfrm>
            <a:off x="4937760" y="3017520"/>
            <a:ext cx="6949440" cy="758952"/>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Associates integral to the entity's main activities → Operating.
All others → Investing category.</a:t>
            </a:r>
          </a:p>
        </p:txBody>
      </p:sp>
      <p:sp>
        <p:nvSpPr>
          <p:cNvPr id="12" name="Rectangle 11"/>
          <p:cNvSpPr/>
          <p:nvPr/>
        </p:nvSpPr>
        <p:spPr>
          <a:xfrm>
            <a:off x="4937760" y="3840480"/>
            <a:ext cx="69494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Income Tax</a:t>
            </a:r>
          </a:p>
        </p:txBody>
      </p:sp>
      <p:sp>
        <p:nvSpPr>
          <p:cNvPr id="13" name="Rectangle 12"/>
          <p:cNvSpPr/>
          <p:nvPr/>
        </p:nvSpPr>
        <p:spPr>
          <a:xfrm>
            <a:off x="4937760" y="4251960"/>
            <a:ext cx="6949440" cy="758952"/>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Income tax expense is presented separately AFTER all three category subtotals, consistent with IAS 12.</a:t>
            </a:r>
          </a:p>
        </p:txBody>
      </p:sp>
      <p:sp>
        <p:nvSpPr>
          <p:cNvPr id="14" name="Rectangle 13"/>
          <p:cNvSpPr/>
          <p:nvPr/>
        </p:nvSpPr>
        <p:spPr>
          <a:xfrm>
            <a:off x="4937760" y="5074920"/>
            <a:ext cx="69494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Why It Matters</a:t>
            </a:r>
          </a:p>
        </p:txBody>
      </p:sp>
      <p:sp>
        <p:nvSpPr>
          <p:cNvPr id="15" name="Rectangle 14"/>
          <p:cNvSpPr/>
          <p:nvPr/>
        </p:nvSpPr>
        <p:spPr>
          <a:xfrm>
            <a:off x="4937760" y="5486400"/>
            <a:ext cx="6949440" cy="758952"/>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Standardising the Operating category makes 'Operating Profit' comparable across companies and industries for the first time.</a:t>
            </a:r>
          </a:p>
        </p:txBody>
      </p:sp>
      <p:sp>
        <p:nvSpPr>
          <p:cNvPr id="16" name="Rectangle 15"/>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The Investing Category</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Returns from assets not related to the main business activities</a:t>
            </a:r>
          </a:p>
        </p:txBody>
      </p:sp>
      <p:sp>
        <p:nvSpPr>
          <p:cNvPr id="7" name="Rectangle 6"/>
          <p:cNvSpPr/>
          <p:nvPr/>
        </p:nvSpPr>
        <p:spPr>
          <a:xfrm>
            <a:off x="274320" y="1371600"/>
            <a:ext cx="11640312" cy="77724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FFFFFF"/>
                </a:solidFill>
              </a:rPr>
              <a:t>Investing category = income and expenses from assets that generate returns INDEPENDENTLY of the entity's main activities</a:t>
            </a:r>
          </a:p>
        </p:txBody>
      </p:sp>
      <p:sp>
        <p:nvSpPr>
          <p:cNvPr id="8" name="Rectangle 7"/>
          <p:cNvSpPr/>
          <p:nvPr/>
        </p:nvSpPr>
        <p:spPr>
          <a:xfrm>
            <a:off x="274320" y="2286000"/>
            <a:ext cx="557784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  Classified as INVESTING</a:t>
            </a:r>
          </a:p>
        </p:txBody>
      </p:sp>
      <p:sp>
        <p:nvSpPr>
          <p:cNvPr id="9" name="Rectangle 8"/>
          <p:cNvSpPr/>
          <p:nvPr/>
        </p:nvSpPr>
        <p:spPr>
          <a:xfrm>
            <a:off x="274320" y="2697480"/>
            <a:ext cx="5577840" cy="32461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 Income from non-integral associates / JVs</a:t>
            </a:r>
          </a:p>
          <a:p>
            <a:pPr algn="l">
              <a:spcBef>
                <a:spcPts val="300"/>
              </a:spcBef>
            </a:pPr>
            <a:r>
              <a:rPr sz="1200">
                <a:solidFill>
                  <a:srgbClr val="404040"/>
                </a:solidFill>
              </a:rPr>
              <a:t>• Dividends from equity investments (FVOCI)</a:t>
            </a:r>
          </a:p>
          <a:p>
            <a:pPr algn="l">
              <a:spcBef>
                <a:spcPts val="300"/>
              </a:spcBef>
            </a:pPr>
            <a:r>
              <a:rPr sz="1200">
                <a:solidFill>
                  <a:srgbClr val="404040"/>
                </a:solidFill>
              </a:rPr>
              <a:t>• Interest from surplus cash &amp; short-term investments</a:t>
            </a:r>
          </a:p>
          <a:p>
            <a:pPr algn="l">
              <a:spcBef>
                <a:spcPts val="300"/>
              </a:spcBef>
            </a:pPr>
            <a:r>
              <a:rPr sz="1200">
                <a:solidFill>
                  <a:srgbClr val="404040"/>
                </a:solidFill>
              </a:rPr>
              <a:t>• Gains/losses on non-integral investment disposals</a:t>
            </a:r>
          </a:p>
          <a:p>
            <a:pPr algn="l">
              <a:spcBef>
                <a:spcPts val="300"/>
              </a:spcBef>
            </a:pPr>
            <a:r>
              <a:rPr sz="1200">
                <a:solidFill>
                  <a:srgbClr val="404040"/>
                </a:solidFill>
              </a:rPr>
              <a:t>• FX gains/losses on investing assets</a:t>
            </a:r>
          </a:p>
          <a:p>
            <a:pPr algn="l">
              <a:spcBef>
                <a:spcPts val="300"/>
              </a:spcBef>
            </a:pPr>
            <a:r>
              <a:rPr sz="1200">
                <a:solidFill>
                  <a:srgbClr val="404040"/>
                </a:solidFill>
              </a:rPr>
              <a:t>• Impairment of investing-category assets</a:t>
            </a:r>
          </a:p>
        </p:txBody>
      </p:sp>
      <p:sp>
        <p:nvSpPr>
          <p:cNvPr id="10" name="Rectangle 9"/>
          <p:cNvSpPr/>
          <p:nvPr/>
        </p:nvSpPr>
        <p:spPr>
          <a:xfrm>
            <a:off x="6035040" y="2286000"/>
            <a:ext cx="5852160" cy="411480"/>
          </a:xfrm>
          <a:prstGeom prst="rect">
            <a:avLst/>
          </a:prstGeom>
          <a:solidFill>
            <a:srgbClr val="C050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  NOT Classified as Investing</a:t>
            </a:r>
          </a:p>
        </p:txBody>
      </p:sp>
      <p:sp>
        <p:nvSpPr>
          <p:cNvPr id="11" name="Rectangle 10"/>
          <p:cNvSpPr/>
          <p:nvPr/>
        </p:nvSpPr>
        <p:spPr>
          <a:xfrm>
            <a:off x="6035040" y="2697480"/>
            <a:ext cx="5852160" cy="32461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 Returns from integral associates / JVs  → Operating</a:t>
            </a:r>
          </a:p>
          <a:p>
            <a:pPr algn="l">
              <a:spcBef>
                <a:spcPts val="300"/>
              </a:spcBef>
            </a:pPr>
            <a:r>
              <a:rPr sz="1200">
                <a:solidFill>
                  <a:srgbClr val="404040"/>
                </a:solidFill>
              </a:rPr>
              <a:t>• Interest on operating trade receivables  → Operating</a:t>
            </a:r>
          </a:p>
          <a:p>
            <a:pPr algn="l">
              <a:spcBef>
                <a:spcPts val="300"/>
              </a:spcBef>
            </a:pPr>
            <a:r>
              <a:rPr sz="1200">
                <a:solidFill>
                  <a:srgbClr val="404040"/>
                </a:solidFill>
              </a:rPr>
              <a:t>• Interest on pension liability  → Financing</a:t>
            </a:r>
          </a:p>
          <a:p>
            <a:pPr algn="l">
              <a:spcBef>
                <a:spcPts val="300"/>
              </a:spcBef>
            </a:pPr>
            <a:r>
              <a:rPr sz="1200">
                <a:solidFill>
                  <a:srgbClr val="404040"/>
                </a:solidFill>
              </a:rPr>
              <a:t>• Interest expense on borrowings  → Financing</a:t>
            </a:r>
          </a:p>
          <a:p>
            <a:pPr algn="l">
              <a:spcBef>
                <a:spcPts val="300"/>
              </a:spcBef>
            </a:pPr>
            <a:r>
              <a:rPr sz="1200">
                <a:solidFill>
                  <a:srgbClr val="404040"/>
                </a:solidFill>
              </a:rPr>
              <a:t>• Revenue from sale of goods/services  → Operating</a:t>
            </a:r>
          </a:p>
        </p:txBody>
      </p:sp>
      <p:sp>
        <p:nvSpPr>
          <p:cNvPr id="12" name="Rectangle 11"/>
          <p:cNvSpPr/>
          <p:nvPr/>
        </p:nvSpPr>
        <p:spPr>
          <a:xfrm>
            <a:off x="274320" y="6035040"/>
            <a:ext cx="11640312" cy="530352"/>
          </a:xfrm>
          <a:prstGeom prst="rect">
            <a:avLst/>
          </a:prstGeom>
          <a:solidFill>
            <a:srgbClr val="DEEAF1"/>
          </a:solidFill>
          <a:ln w="9525">
            <a:solidFill>
              <a:srgbClr val="1F5C99"/>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150" b="0" i="0">
                <a:solidFill>
                  <a:srgbClr val="1F3864"/>
                </a:solidFill>
              </a:rPr>
              <a:t>Key Principle: An asset is in the Investing category when its returns do not depend on the volume or success of the entity's main operating activities.</a:t>
            </a:r>
          </a:p>
        </p:txBody>
      </p:sp>
      <p:sp>
        <p:nvSpPr>
          <p:cNvPr id="13" name="Rectangle 12"/>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The Financing Category</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Costs and returns directly linked to how the entity is funded</a:t>
            </a:r>
          </a:p>
        </p:txBody>
      </p:sp>
      <p:sp>
        <p:nvSpPr>
          <p:cNvPr id="7" name="Rectangle 6"/>
          <p:cNvSpPr/>
          <p:nvPr/>
        </p:nvSpPr>
        <p:spPr>
          <a:xfrm>
            <a:off x="274320" y="1371600"/>
            <a:ext cx="11640312"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FFFFFF"/>
                </a:solidFill>
              </a:rPr>
              <a:t>Financing category = income and expenses arising from liabilities and equity instruments that represent the entity's financing structure</a:t>
            </a:r>
          </a:p>
        </p:txBody>
      </p:sp>
      <p:sp>
        <p:nvSpPr>
          <p:cNvPr id="8" name="Rectangle 7"/>
          <p:cNvSpPr/>
          <p:nvPr/>
        </p:nvSpPr>
        <p:spPr>
          <a:xfrm>
            <a:off x="274320" y="2286000"/>
            <a:ext cx="3657600" cy="4114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Financing
Liabilities</a:t>
            </a:r>
          </a:p>
        </p:txBody>
      </p:sp>
      <p:sp>
        <p:nvSpPr>
          <p:cNvPr id="9" name="Rectangle 8"/>
          <p:cNvSpPr/>
          <p:nvPr/>
        </p:nvSpPr>
        <p:spPr>
          <a:xfrm>
            <a:off x="274320" y="2697480"/>
            <a:ext cx="3657600" cy="32461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 Interest expense on bonds &amp; loans</a:t>
            </a:r>
          </a:p>
          <a:p>
            <a:pPr algn="l">
              <a:spcBef>
                <a:spcPts val="300"/>
              </a:spcBef>
            </a:pPr>
            <a:r>
              <a:rPr sz="1200">
                <a:solidFill>
                  <a:srgbClr val="404040"/>
                </a:solidFill>
              </a:rPr>
              <a:t>• Amortisation of debt issue costs</a:t>
            </a:r>
          </a:p>
          <a:p>
            <a:pPr algn="l">
              <a:spcBef>
                <a:spcPts val="300"/>
              </a:spcBef>
            </a:pPr>
            <a:r>
              <a:rPr sz="1200">
                <a:solidFill>
                  <a:srgbClr val="404040"/>
                </a:solidFill>
              </a:rPr>
              <a:t>• Fair value changes on financial liabilities</a:t>
            </a:r>
          </a:p>
          <a:p>
            <a:pPr algn="l">
              <a:spcBef>
                <a:spcPts val="300"/>
              </a:spcBef>
            </a:pPr>
            <a:r>
              <a:rPr sz="1200">
                <a:solidFill>
                  <a:srgbClr val="404040"/>
                </a:solidFill>
              </a:rPr>
              <a:t>• Gains/losses on extinguishment of debt</a:t>
            </a:r>
          </a:p>
          <a:p>
            <a:pPr algn="l">
              <a:spcBef>
                <a:spcPts val="300"/>
              </a:spcBef>
            </a:pPr>
            <a:r>
              <a:rPr sz="1200">
                <a:solidFill>
                  <a:srgbClr val="404040"/>
                </a:solidFill>
              </a:rPr>
              <a:t>• FX on foreign-currency borrowings</a:t>
            </a:r>
          </a:p>
        </p:txBody>
      </p:sp>
      <p:sp>
        <p:nvSpPr>
          <p:cNvPr id="10" name="Rectangle 9"/>
          <p:cNvSpPr/>
          <p:nvPr/>
        </p:nvSpPr>
        <p:spPr>
          <a:xfrm>
            <a:off x="4206240" y="2286000"/>
            <a:ext cx="365760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Equity-Related
Items</a:t>
            </a:r>
          </a:p>
        </p:txBody>
      </p:sp>
      <p:sp>
        <p:nvSpPr>
          <p:cNvPr id="11" name="Rectangle 10"/>
          <p:cNvSpPr/>
          <p:nvPr/>
        </p:nvSpPr>
        <p:spPr>
          <a:xfrm>
            <a:off x="4206240" y="2697480"/>
            <a:ext cx="3657600" cy="32461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 Interest on lease liabilities (IFRS 16)</a:t>
            </a:r>
          </a:p>
          <a:p>
            <a:pPr algn="l">
              <a:spcBef>
                <a:spcPts val="300"/>
              </a:spcBef>
            </a:pPr>
            <a:r>
              <a:rPr sz="1200">
                <a:solidFill>
                  <a:srgbClr val="404040"/>
                </a:solidFill>
              </a:rPr>
              <a:t>• Discount unwinding on long-term provisions</a:t>
            </a:r>
          </a:p>
          <a:p>
            <a:pPr algn="l">
              <a:spcBef>
                <a:spcPts val="300"/>
              </a:spcBef>
            </a:pPr>
            <a:r>
              <a:rPr sz="1200">
                <a:solidFill>
                  <a:srgbClr val="404040"/>
                </a:solidFill>
              </a:rPr>
              <a:t>• Net interest on pension obligations (IAS 19)</a:t>
            </a:r>
          </a:p>
          <a:p>
            <a:pPr algn="l">
              <a:spcBef>
                <a:spcPts val="300"/>
              </a:spcBef>
            </a:pPr>
            <a:r>
              <a:rPr sz="1200">
                <a:solidFill>
                  <a:srgbClr val="404040"/>
                </a:solidFill>
              </a:rPr>
              <a:t>• FX on equity-denominated instruments</a:t>
            </a:r>
          </a:p>
        </p:txBody>
      </p:sp>
      <p:sp>
        <p:nvSpPr>
          <p:cNvPr id="12" name="Rectangle 11"/>
          <p:cNvSpPr/>
          <p:nvPr/>
        </p:nvSpPr>
        <p:spPr>
          <a:xfrm>
            <a:off x="8138160" y="2286000"/>
            <a:ext cx="3657600" cy="411480"/>
          </a:xfrm>
          <a:prstGeom prst="rect">
            <a:avLst/>
          </a:prstGeom>
          <a:solidFill>
            <a:srgbClr val="C050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What is Excluded</a:t>
            </a:r>
          </a:p>
        </p:txBody>
      </p:sp>
      <p:sp>
        <p:nvSpPr>
          <p:cNvPr id="13" name="Rectangle 12"/>
          <p:cNvSpPr/>
          <p:nvPr/>
        </p:nvSpPr>
        <p:spPr>
          <a:xfrm>
            <a:off x="8138160" y="2697480"/>
            <a:ext cx="3657600" cy="32461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  Interest on trade payables  → Operating</a:t>
            </a:r>
          </a:p>
          <a:p>
            <a:pPr algn="l">
              <a:spcBef>
                <a:spcPts val="300"/>
              </a:spcBef>
            </a:pPr>
            <a:r>
              <a:rPr sz="1200">
                <a:solidFill>
                  <a:srgbClr val="404040"/>
                </a:solidFill>
              </a:rPr>
              <a:t>✘  Bank charges on operations  → Operating</a:t>
            </a:r>
          </a:p>
          <a:p>
            <a:pPr algn="l">
              <a:spcBef>
                <a:spcPts val="300"/>
              </a:spcBef>
            </a:pPr>
            <a:r>
              <a:rPr sz="1200">
                <a:solidFill>
                  <a:srgbClr val="404040"/>
                </a:solidFill>
              </a:rPr>
              <a:t>✘  Dividends paid  → Equity (not P&amp;L)</a:t>
            </a:r>
          </a:p>
          <a:p>
            <a:pPr algn="l">
              <a:spcBef>
                <a:spcPts val="300"/>
              </a:spcBef>
            </a:pPr>
            <a:r>
              <a:rPr sz="1200">
                <a:solidFill>
                  <a:srgbClr val="404040"/>
                </a:solidFill>
              </a:rPr>
              <a:t>✘  Investment returns  → Investing</a:t>
            </a:r>
          </a:p>
        </p:txBody>
      </p:sp>
      <p:sp>
        <p:nvSpPr>
          <p:cNvPr id="14" name="Rectangle 13"/>
          <p:cNvSpPr/>
          <p:nvPr/>
        </p:nvSpPr>
        <p:spPr>
          <a:xfrm>
            <a:off x="274320" y="6035040"/>
            <a:ext cx="11640312" cy="530352"/>
          </a:xfrm>
          <a:prstGeom prst="rect">
            <a:avLst/>
          </a:prstGeom>
          <a:solidFill>
            <a:srgbClr val="DEEAF1"/>
          </a:solidFill>
          <a:ln w="952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150" b="0" i="0">
                <a:solidFill>
                  <a:srgbClr val="1F3864"/>
                </a:solidFill>
              </a:rPr>
              <a:t>Key Rule: Entities that classify interest in the Investing or Financing category in the cash flow statement MUST use the SAME classification in the P&amp;L.</a:t>
            </a:r>
          </a:p>
        </p:txBody>
      </p:sp>
      <p:sp>
        <p:nvSpPr>
          <p:cNvPr id="15" name="Rectangle 14"/>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Required Subtotals in the P&amp;L</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IFRS 18 mandates specific line items and subtotals for the first time</a:t>
            </a:r>
          </a:p>
        </p:txBody>
      </p:sp>
      <p:sp>
        <p:nvSpPr>
          <p:cNvPr id="7" name="Rectangle 6"/>
          <p:cNvSpPr/>
          <p:nvPr/>
        </p:nvSpPr>
        <p:spPr>
          <a:xfrm>
            <a:off x="822960" y="1371600"/>
            <a:ext cx="6949440" cy="4937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200" b="1" i="0">
                <a:solidFill>
                  <a:srgbClr val="FFFFFF"/>
                </a:solidFill>
              </a:rPr>
              <a:t>Revenue</a:t>
            </a:r>
          </a:p>
        </p:txBody>
      </p:sp>
      <p:sp>
        <p:nvSpPr>
          <p:cNvPr id="8" name="Rectangle 7"/>
          <p:cNvSpPr/>
          <p:nvPr/>
        </p:nvSpPr>
        <p:spPr>
          <a:xfrm>
            <a:off x="822960" y="1892808"/>
            <a:ext cx="6949440" cy="4937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200" b="0" i="0">
                <a:solidFill>
                  <a:srgbClr val="FFFFFF"/>
                </a:solidFill>
              </a:rPr>
              <a:t>+ Other Operating Income / (Expenses)</a:t>
            </a:r>
          </a:p>
        </p:txBody>
      </p:sp>
      <p:sp>
        <p:nvSpPr>
          <p:cNvPr id="9" name="Rectangle 8"/>
          <p:cNvSpPr/>
          <p:nvPr/>
        </p:nvSpPr>
        <p:spPr>
          <a:xfrm>
            <a:off x="457200" y="2414016"/>
            <a:ext cx="7315200" cy="493776"/>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i="0">
                <a:solidFill>
                  <a:srgbClr val="FFFFFF"/>
                </a:solidFill>
              </a:rPr>
              <a:t>= OPERATING PROFIT  ★</a:t>
            </a:r>
          </a:p>
        </p:txBody>
      </p:sp>
      <p:sp>
        <p:nvSpPr>
          <p:cNvPr id="10" name="Rectangle 9"/>
          <p:cNvSpPr/>
          <p:nvPr/>
        </p:nvSpPr>
        <p:spPr>
          <a:xfrm>
            <a:off x="822960" y="2935224"/>
            <a:ext cx="6949440" cy="493776"/>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200" b="0" i="0">
                <a:solidFill>
                  <a:srgbClr val="FFFFFF"/>
                </a:solidFill>
              </a:rPr>
              <a:t>+ Investing Income / (Expenses)</a:t>
            </a:r>
          </a:p>
        </p:txBody>
      </p:sp>
      <p:sp>
        <p:nvSpPr>
          <p:cNvPr id="11" name="Rectangle 10"/>
          <p:cNvSpPr/>
          <p:nvPr/>
        </p:nvSpPr>
        <p:spPr>
          <a:xfrm>
            <a:off x="457200" y="3456432"/>
            <a:ext cx="7315200" cy="49377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i="0">
                <a:solidFill>
                  <a:srgbClr val="FFFFFF"/>
                </a:solidFill>
              </a:rPr>
              <a:t>= PROFIT BEFORE FINANCING &amp; TAX</a:t>
            </a:r>
          </a:p>
        </p:txBody>
      </p:sp>
      <p:sp>
        <p:nvSpPr>
          <p:cNvPr id="12" name="Rectangle 11"/>
          <p:cNvSpPr/>
          <p:nvPr/>
        </p:nvSpPr>
        <p:spPr>
          <a:xfrm>
            <a:off x="822960" y="3977640"/>
            <a:ext cx="6949440" cy="49377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200" b="0" i="0">
                <a:solidFill>
                  <a:srgbClr val="FFFFFF"/>
                </a:solidFill>
              </a:rPr>
              <a:t>+ Financing Income / (Expenses)</a:t>
            </a:r>
          </a:p>
        </p:txBody>
      </p:sp>
      <p:sp>
        <p:nvSpPr>
          <p:cNvPr id="13" name="Rectangle 12"/>
          <p:cNvSpPr/>
          <p:nvPr/>
        </p:nvSpPr>
        <p:spPr>
          <a:xfrm>
            <a:off x="457200" y="4498848"/>
            <a:ext cx="7315200" cy="493776"/>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i="0">
                <a:solidFill>
                  <a:srgbClr val="FFFFFF"/>
                </a:solidFill>
              </a:rPr>
              <a:t>= PROFIT BEFORE TAX  ★</a:t>
            </a:r>
          </a:p>
        </p:txBody>
      </p:sp>
      <p:sp>
        <p:nvSpPr>
          <p:cNvPr id="14" name="Rectangle 13"/>
          <p:cNvSpPr/>
          <p:nvPr/>
        </p:nvSpPr>
        <p:spPr>
          <a:xfrm>
            <a:off x="822960" y="5020056"/>
            <a:ext cx="6949440" cy="493776"/>
          </a:xfrm>
          <a:prstGeom prst="rect">
            <a:avLst/>
          </a:prstGeom>
          <a:solidFill>
            <a:srgbClr val="7F7F7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200" b="0" i="0">
                <a:solidFill>
                  <a:srgbClr val="FFFFFF"/>
                </a:solidFill>
              </a:rPr>
              <a:t>– Income Tax Expense</a:t>
            </a:r>
          </a:p>
        </p:txBody>
      </p:sp>
      <p:sp>
        <p:nvSpPr>
          <p:cNvPr id="15" name="Rectangle 14"/>
          <p:cNvSpPr/>
          <p:nvPr/>
        </p:nvSpPr>
        <p:spPr>
          <a:xfrm>
            <a:off x="457200" y="5541264"/>
            <a:ext cx="7315200" cy="493776"/>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i="0">
                <a:solidFill>
                  <a:srgbClr val="FFFFFF"/>
                </a:solidFill>
              </a:rPr>
              <a:t>= PROFIT FOR THE PERIOD  ★</a:t>
            </a:r>
          </a:p>
        </p:txBody>
      </p:sp>
      <p:sp>
        <p:nvSpPr>
          <p:cNvPr id="16" name="Rectangle 15"/>
          <p:cNvSpPr/>
          <p:nvPr/>
        </p:nvSpPr>
        <p:spPr>
          <a:xfrm>
            <a:off x="8229600" y="1417320"/>
            <a:ext cx="3657600" cy="777240"/>
          </a:xfrm>
          <a:prstGeom prst="rect">
            <a:avLst/>
          </a:prstGeom>
          <a:solidFill>
            <a:srgbClr val="DEEAF1"/>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00" b="0" i="0">
                <a:solidFill>
                  <a:srgbClr val="1F3864"/>
                </a:solidFill>
              </a:rPr>
              <a:t>★  Mandatory subtotals
      required by IFRS 18</a:t>
            </a:r>
          </a:p>
        </p:txBody>
      </p:sp>
      <p:sp>
        <p:nvSpPr>
          <p:cNvPr id="17" name="Rectangle 16"/>
          <p:cNvSpPr/>
          <p:nvPr/>
        </p:nvSpPr>
        <p:spPr>
          <a:xfrm>
            <a:off x="8229600" y="2898648"/>
            <a:ext cx="3657600" cy="777240"/>
          </a:xfrm>
          <a:prstGeom prst="rect">
            <a:avLst/>
          </a:prstGeom>
          <a:solidFill>
            <a:srgbClr val="DEEAF1"/>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00" b="0" i="0">
                <a:solidFill>
                  <a:srgbClr val="1F3864"/>
                </a:solidFill>
              </a:rPr>
              <a:t>Entities may present additional
subtotals if useful (but cannot
remove mandatory ones)</a:t>
            </a:r>
          </a:p>
        </p:txBody>
      </p:sp>
      <p:sp>
        <p:nvSpPr>
          <p:cNvPr id="18" name="Rectangle 17"/>
          <p:cNvSpPr/>
          <p:nvPr/>
        </p:nvSpPr>
        <p:spPr>
          <a:xfrm>
            <a:off x="8229600" y="5230368"/>
            <a:ext cx="3657600" cy="777240"/>
          </a:xfrm>
          <a:prstGeom prst="rect">
            <a:avLst/>
          </a:prstGeom>
          <a:solidFill>
            <a:srgbClr val="DEEAF1"/>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00" b="0" i="0">
                <a:solidFill>
                  <a:srgbClr val="1F3864"/>
                </a:solidFill>
              </a:rPr>
              <a:t>★  New: 'Profit before financing
      and income tax' subtotal</a:t>
            </a:r>
          </a:p>
        </p:txBody>
      </p:sp>
      <p:sp>
        <p:nvSpPr>
          <p:cNvPr id="19" name="Rectangle 18"/>
          <p:cNvSpPr/>
          <p:nvPr/>
        </p:nvSpPr>
        <p:spPr>
          <a:xfrm>
            <a:off x="8229600" y="6199632"/>
            <a:ext cx="3657600" cy="777240"/>
          </a:xfrm>
          <a:prstGeom prst="rect">
            <a:avLst/>
          </a:prstGeom>
          <a:solidFill>
            <a:srgbClr val="DEEAF1"/>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00" b="0" i="0">
                <a:solidFill>
                  <a:srgbClr val="1F3864"/>
                </a:solidFill>
              </a:rPr>
              <a:t>Consistent with IAS 12
presentation requirements</a:t>
            </a:r>
          </a:p>
        </p:txBody>
      </p:sp>
      <p:sp>
        <p:nvSpPr>
          <p:cNvPr id="20" name="Rectangle 19"/>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Management-defined Performance Measures (MPMs)</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New rules for non-GAAP and alternative performance measures</a:t>
            </a:r>
          </a:p>
        </p:txBody>
      </p:sp>
      <p:sp>
        <p:nvSpPr>
          <p:cNvPr id="7" name="Rectangle 6"/>
          <p:cNvSpPr/>
          <p:nvPr/>
        </p:nvSpPr>
        <p:spPr>
          <a:xfrm>
            <a:off x="274320" y="1371600"/>
            <a:ext cx="11640312" cy="1188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0" i="1">
                <a:solidFill>
                  <a:srgbClr val="9DC3E6"/>
                </a:solidFill>
              </a:rPr>
              <a:t>"An MPM is a subtotal of income and expenses that is not specified in IFRS Standards,
is used or referenced in public communications outside the financial statements,
and communicates management's view of an aspect of financial performance."</a:t>
            </a:r>
          </a:p>
        </p:txBody>
      </p:sp>
      <p:sp>
        <p:nvSpPr>
          <p:cNvPr id="8" name="Rectangle 7"/>
          <p:cNvSpPr/>
          <p:nvPr/>
        </p:nvSpPr>
        <p:spPr>
          <a:xfrm>
            <a:off x="274320" y="2697480"/>
            <a:ext cx="548640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What Qualifies as an MPM?</a:t>
            </a:r>
          </a:p>
        </p:txBody>
      </p:sp>
      <p:sp>
        <p:nvSpPr>
          <p:cNvPr id="9" name="Rectangle 8"/>
          <p:cNvSpPr/>
          <p:nvPr/>
        </p:nvSpPr>
        <p:spPr>
          <a:xfrm>
            <a:off x="274320" y="3108960"/>
            <a:ext cx="5486400" cy="1252728"/>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 A subtotal of income &amp; expenses (not just ratios)</a:t>
            </a:r>
          </a:p>
          <a:p>
            <a:pPr algn="l">
              <a:spcBef>
                <a:spcPts val="300"/>
              </a:spcBef>
            </a:pPr>
            <a:r>
              <a:rPr sz="1150">
                <a:solidFill>
                  <a:srgbClr val="404040"/>
                </a:solidFill>
              </a:rPr>
              <a:t>• Used in earnings releases, investor presentations,
  management commentary, or analyst calls</a:t>
            </a:r>
          </a:p>
          <a:p>
            <a:pPr algn="l">
              <a:spcBef>
                <a:spcPts val="300"/>
              </a:spcBef>
            </a:pPr>
            <a:r>
              <a:rPr sz="1150">
                <a:solidFill>
                  <a:srgbClr val="404040"/>
                </a:solidFill>
              </a:rPr>
              <a:t>• Purports to communicate management's view of
  an aspect of financial performance</a:t>
            </a:r>
          </a:p>
          <a:p>
            <a:pPr algn="l">
              <a:spcBef>
                <a:spcPts val="300"/>
              </a:spcBef>
            </a:pPr>
            <a:r>
              <a:rPr sz="1150">
                <a:solidFill>
                  <a:srgbClr val="404040"/>
                </a:solidFill>
              </a:rPr>
              <a:t>• NOT specified / required by IFRS Standards</a:t>
            </a:r>
          </a:p>
        </p:txBody>
      </p:sp>
      <p:sp>
        <p:nvSpPr>
          <p:cNvPr id="10" name="Rectangle 9"/>
          <p:cNvSpPr/>
          <p:nvPr/>
        </p:nvSpPr>
        <p:spPr>
          <a:xfrm>
            <a:off x="6172200" y="2697480"/>
            <a:ext cx="548640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Common Examples</a:t>
            </a:r>
          </a:p>
        </p:txBody>
      </p:sp>
      <p:sp>
        <p:nvSpPr>
          <p:cNvPr id="11" name="Rectangle 10"/>
          <p:cNvSpPr/>
          <p:nvPr/>
        </p:nvSpPr>
        <p:spPr>
          <a:xfrm>
            <a:off x="6172200" y="3108960"/>
            <a:ext cx="5486400" cy="1252728"/>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 Adjusted EBITDA / Underlying EBITDA</a:t>
            </a:r>
          </a:p>
          <a:p>
            <a:pPr algn="l">
              <a:spcBef>
                <a:spcPts val="300"/>
              </a:spcBef>
            </a:pPr>
            <a:r>
              <a:rPr sz="1150">
                <a:solidFill>
                  <a:srgbClr val="404040"/>
                </a:solidFill>
              </a:rPr>
              <a:t>• Adjusted Operating Profit</a:t>
            </a:r>
          </a:p>
          <a:p>
            <a:pPr algn="l">
              <a:spcBef>
                <a:spcPts val="300"/>
              </a:spcBef>
            </a:pPr>
            <a:r>
              <a:rPr sz="1150">
                <a:solidFill>
                  <a:srgbClr val="404040"/>
                </a:solidFill>
              </a:rPr>
              <a:t>• Core Earnings / Recurring Earnings</a:t>
            </a:r>
          </a:p>
          <a:p>
            <a:pPr algn="l">
              <a:spcBef>
                <a:spcPts val="300"/>
              </a:spcBef>
            </a:pPr>
            <a:r>
              <a:rPr sz="1150">
                <a:solidFill>
                  <a:srgbClr val="404040"/>
                </a:solidFill>
              </a:rPr>
              <a:t>• Adjusted EPS (earnings per share)</a:t>
            </a:r>
          </a:p>
          <a:p>
            <a:pPr algn="l">
              <a:spcBef>
                <a:spcPts val="300"/>
              </a:spcBef>
            </a:pPr>
            <a:r>
              <a:rPr sz="1150">
                <a:solidFill>
                  <a:srgbClr val="404040"/>
                </a:solidFill>
              </a:rPr>
              <a:t>• Free Cash Flow subtotals (if in P&amp;L context)</a:t>
            </a:r>
          </a:p>
        </p:txBody>
      </p:sp>
      <p:sp>
        <p:nvSpPr>
          <p:cNvPr id="12" name="Rectangle 11"/>
          <p:cNvSpPr/>
          <p:nvPr/>
        </p:nvSpPr>
        <p:spPr>
          <a:xfrm>
            <a:off x="274320" y="4434840"/>
            <a:ext cx="5486400" cy="411480"/>
          </a:xfrm>
          <a:prstGeom prst="rect">
            <a:avLst/>
          </a:prstGeom>
          <a:solidFill>
            <a:srgbClr val="C050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What Does NOT Qualify?</a:t>
            </a:r>
          </a:p>
        </p:txBody>
      </p:sp>
      <p:sp>
        <p:nvSpPr>
          <p:cNvPr id="13" name="Rectangle 12"/>
          <p:cNvSpPr/>
          <p:nvPr/>
        </p:nvSpPr>
        <p:spPr>
          <a:xfrm>
            <a:off x="274320" y="4846320"/>
            <a:ext cx="5486400" cy="1252728"/>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 Ratios: profit margins, ROCE, EPS</a:t>
            </a:r>
          </a:p>
          <a:p>
            <a:pPr algn="l">
              <a:spcBef>
                <a:spcPts val="300"/>
              </a:spcBef>
            </a:pPr>
            <a:r>
              <a:rPr sz="1150">
                <a:solidFill>
                  <a:srgbClr val="404040"/>
                </a:solidFill>
              </a:rPr>
              <a:t>• Individual line items not labelled a subtotal</a:t>
            </a:r>
          </a:p>
          <a:p>
            <a:pPr algn="l">
              <a:spcBef>
                <a:spcPts val="300"/>
              </a:spcBef>
            </a:pPr>
            <a:r>
              <a:rPr sz="1150">
                <a:solidFill>
                  <a:srgbClr val="404040"/>
                </a:solidFill>
              </a:rPr>
              <a:t>• Items required by an IFRS Standard</a:t>
            </a:r>
          </a:p>
          <a:p>
            <a:pPr algn="l">
              <a:spcBef>
                <a:spcPts val="300"/>
              </a:spcBef>
            </a:pPr>
            <a:r>
              <a:rPr sz="1150">
                <a:solidFill>
                  <a:srgbClr val="404040"/>
                </a:solidFill>
              </a:rPr>
              <a:t>• Subtotals used only internally (never in public comms)</a:t>
            </a:r>
          </a:p>
        </p:txBody>
      </p:sp>
      <p:sp>
        <p:nvSpPr>
          <p:cNvPr id="14" name="Rectangle 13"/>
          <p:cNvSpPr/>
          <p:nvPr/>
        </p:nvSpPr>
        <p:spPr>
          <a:xfrm>
            <a:off x="6172200" y="4434840"/>
            <a:ext cx="5486400" cy="4114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Why This Matters</a:t>
            </a:r>
          </a:p>
        </p:txBody>
      </p:sp>
      <p:sp>
        <p:nvSpPr>
          <p:cNvPr id="15" name="Rectangle 14"/>
          <p:cNvSpPr/>
          <p:nvPr/>
        </p:nvSpPr>
        <p:spPr>
          <a:xfrm>
            <a:off x="6172200" y="4846320"/>
            <a:ext cx="5486400" cy="1252728"/>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 Provides a level playing field for APMs globally</a:t>
            </a:r>
          </a:p>
          <a:p>
            <a:pPr algn="l">
              <a:spcBef>
                <a:spcPts val="300"/>
              </a:spcBef>
            </a:pPr>
            <a:r>
              <a:rPr sz="1150">
                <a:solidFill>
                  <a:srgbClr val="404040"/>
                </a:solidFill>
              </a:rPr>
              <a:t>• Makes adjustments to IFRS profit transparent</a:t>
            </a:r>
          </a:p>
          <a:p>
            <a:pPr algn="l">
              <a:spcBef>
                <a:spcPts val="300"/>
              </a:spcBef>
            </a:pPr>
            <a:r>
              <a:rPr sz="1150">
                <a:solidFill>
                  <a:srgbClr val="404040"/>
                </a:solidFill>
              </a:rPr>
              <a:t>• Reconciliation required to nearest IFRS subtotal</a:t>
            </a:r>
          </a:p>
          <a:p>
            <a:pPr algn="l">
              <a:spcBef>
                <a:spcPts val="300"/>
              </a:spcBef>
            </a:pPr>
            <a:r>
              <a:rPr sz="1150">
                <a:solidFill>
                  <a:srgbClr val="404040"/>
                </a:solidFill>
              </a:rPr>
              <a:t>• Prominence rules prevent misleading presentation</a:t>
            </a:r>
          </a:p>
        </p:txBody>
      </p:sp>
      <p:sp>
        <p:nvSpPr>
          <p:cNvPr id="16" name="Rectangle 15"/>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MPM Disclosure Requirements</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What entities must disclose for every MPM they use</a:t>
            </a:r>
          </a:p>
        </p:txBody>
      </p:sp>
      <p:sp>
        <p:nvSpPr>
          <p:cNvPr id="7" name="Oval 6"/>
          <p:cNvSpPr/>
          <p:nvPr/>
        </p:nvSpPr>
        <p:spPr>
          <a:xfrm>
            <a:off x="914400" y="1554480"/>
            <a:ext cx="777240" cy="7772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rPr>
              <a:t>1</a:t>
            </a:r>
          </a:p>
        </p:txBody>
      </p:sp>
      <p:sp>
        <p:nvSpPr>
          <p:cNvPr id="8" name="TextBox 7"/>
          <p:cNvSpPr txBox="1"/>
          <p:nvPr/>
        </p:nvSpPr>
        <p:spPr>
          <a:xfrm>
            <a:off x="274320" y="2057400"/>
            <a:ext cx="2057400" cy="411480"/>
          </a:xfrm>
          <a:prstGeom prst="rect">
            <a:avLst/>
          </a:prstGeom>
          <a:noFill/>
        </p:spPr>
        <p:txBody>
          <a:bodyPr wrap="square">
            <a:spAutoFit/>
          </a:bodyPr>
          <a:lstStyle/>
          <a:p>
            <a:pPr algn="ctr"/>
            <a:r>
              <a:rPr sz="1400" b="1" i="0">
                <a:solidFill>
                  <a:srgbClr val="2E75B6"/>
                </a:solidFill>
              </a:rPr>
              <a:t>Label</a:t>
            </a:r>
          </a:p>
        </p:txBody>
      </p:sp>
      <p:sp>
        <p:nvSpPr>
          <p:cNvPr id="9" name="Rectangle 8"/>
          <p:cNvSpPr/>
          <p:nvPr/>
        </p:nvSpPr>
        <p:spPr>
          <a:xfrm>
            <a:off x="274320" y="2560320"/>
            <a:ext cx="2057400" cy="1261872"/>
          </a:xfrm>
          <a:prstGeom prst="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r>
              <a:rPr sz="1150">
                <a:solidFill>
                  <a:srgbClr val="404040"/>
                </a:solidFill>
              </a:rPr>
              <a:t>Use a descriptive label
that conveys the nature
of the MPM</a:t>
            </a:r>
          </a:p>
        </p:txBody>
      </p:sp>
      <p:sp>
        <p:nvSpPr>
          <p:cNvPr id="10" name="Can 9"/>
          <p:cNvSpPr/>
          <p:nvPr/>
        </p:nvSpPr>
        <p:spPr>
          <a:xfrm>
            <a:off x="2359152" y="2103120"/>
            <a:ext cx="13716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154680" y="1554480"/>
            <a:ext cx="777240" cy="777240"/>
          </a:xfrm>
          <a:prstGeom prst="ellipse">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rPr>
              <a:t>2</a:t>
            </a:r>
          </a:p>
        </p:txBody>
      </p:sp>
      <p:sp>
        <p:nvSpPr>
          <p:cNvPr id="12" name="TextBox 11"/>
          <p:cNvSpPr txBox="1"/>
          <p:nvPr/>
        </p:nvSpPr>
        <p:spPr>
          <a:xfrm>
            <a:off x="2514600" y="2057400"/>
            <a:ext cx="2057400" cy="411480"/>
          </a:xfrm>
          <a:prstGeom prst="rect">
            <a:avLst/>
          </a:prstGeom>
          <a:noFill/>
        </p:spPr>
        <p:txBody>
          <a:bodyPr wrap="square">
            <a:spAutoFit/>
          </a:bodyPr>
          <a:lstStyle/>
          <a:p>
            <a:pPr algn="ctr"/>
            <a:r>
              <a:rPr sz="1400" b="1" i="0">
                <a:solidFill>
                  <a:srgbClr val="1F5C99"/>
                </a:solidFill>
              </a:rPr>
              <a:t>Explain</a:t>
            </a:r>
          </a:p>
        </p:txBody>
      </p:sp>
      <p:sp>
        <p:nvSpPr>
          <p:cNvPr id="13" name="Rectangle 12"/>
          <p:cNvSpPr/>
          <p:nvPr/>
        </p:nvSpPr>
        <p:spPr>
          <a:xfrm>
            <a:off x="2514600" y="2560320"/>
            <a:ext cx="2057400" cy="1261872"/>
          </a:xfrm>
          <a:prstGeom prst="rect">
            <a:avLst/>
          </a:prstGeom>
          <a:solidFill>
            <a:srgbClr val="FFFFFF"/>
          </a:solidFill>
          <a:ln w="19050">
            <a:solidFill>
              <a:srgbClr val="1F5C99"/>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r>
              <a:rPr sz="1150">
                <a:solidFill>
                  <a:srgbClr val="404040"/>
                </a:solidFill>
              </a:rPr>
              <a:t>Explain why the MPM
provides useful info about
financial performance</a:t>
            </a:r>
          </a:p>
        </p:txBody>
      </p:sp>
      <p:sp>
        <p:nvSpPr>
          <p:cNvPr id="14" name="Can 13"/>
          <p:cNvSpPr/>
          <p:nvPr/>
        </p:nvSpPr>
        <p:spPr>
          <a:xfrm>
            <a:off x="4599432" y="2103120"/>
            <a:ext cx="13716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94960" y="1554480"/>
            <a:ext cx="777240" cy="777240"/>
          </a:xfrm>
          <a:prstGeom prst="ellipse">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rPr>
              <a:t>3</a:t>
            </a:r>
          </a:p>
        </p:txBody>
      </p:sp>
      <p:sp>
        <p:nvSpPr>
          <p:cNvPr id="16" name="TextBox 15"/>
          <p:cNvSpPr txBox="1"/>
          <p:nvPr/>
        </p:nvSpPr>
        <p:spPr>
          <a:xfrm>
            <a:off x="4754880" y="2057400"/>
            <a:ext cx="2057400" cy="411480"/>
          </a:xfrm>
          <a:prstGeom prst="rect">
            <a:avLst/>
          </a:prstGeom>
          <a:noFill/>
        </p:spPr>
        <p:txBody>
          <a:bodyPr wrap="square">
            <a:spAutoFit/>
          </a:bodyPr>
          <a:lstStyle/>
          <a:p>
            <a:pPr algn="ctr"/>
            <a:r>
              <a:rPr sz="1400" b="1" i="0">
                <a:solidFill>
                  <a:srgbClr val="1F3864"/>
                </a:solidFill>
              </a:rPr>
              <a:t>Reconcile</a:t>
            </a:r>
          </a:p>
        </p:txBody>
      </p:sp>
      <p:sp>
        <p:nvSpPr>
          <p:cNvPr id="17" name="Rectangle 16"/>
          <p:cNvSpPr/>
          <p:nvPr/>
        </p:nvSpPr>
        <p:spPr>
          <a:xfrm>
            <a:off x="4754880" y="2560320"/>
            <a:ext cx="2057400" cy="1261872"/>
          </a:xfrm>
          <a:prstGeom prst="rect">
            <a:avLst/>
          </a:prstGeom>
          <a:solidFill>
            <a:srgbClr val="FFFFFF"/>
          </a:solidFill>
          <a:ln w="190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r>
              <a:rPr sz="1150">
                <a:solidFill>
                  <a:srgbClr val="404040"/>
                </a:solidFill>
              </a:rPr>
              <a:t>Reconcile to the nearest
mandatory IFRS subtotal
line-by-line</a:t>
            </a:r>
          </a:p>
        </p:txBody>
      </p:sp>
      <p:sp>
        <p:nvSpPr>
          <p:cNvPr id="18" name="Can 17"/>
          <p:cNvSpPr/>
          <p:nvPr/>
        </p:nvSpPr>
        <p:spPr>
          <a:xfrm>
            <a:off x="6839712" y="2103120"/>
            <a:ext cx="13716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35240" y="1554480"/>
            <a:ext cx="777240" cy="7772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rPr>
              <a:t>4</a:t>
            </a:r>
          </a:p>
        </p:txBody>
      </p:sp>
      <p:sp>
        <p:nvSpPr>
          <p:cNvPr id="20" name="TextBox 19"/>
          <p:cNvSpPr txBox="1"/>
          <p:nvPr/>
        </p:nvSpPr>
        <p:spPr>
          <a:xfrm>
            <a:off x="6995160" y="2057400"/>
            <a:ext cx="2057400" cy="411480"/>
          </a:xfrm>
          <a:prstGeom prst="rect">
            <a:avLst/>
          </a:prstGeom>
          <a:noFill/>
        </p:spPr>
        <p:txBody>
          <a:bodyPr wrap="square">
            <a:spAutoFit/>
          </a:bodyPr>
          <a:lstStyle/>
          <a:p>
            <a:pPr algn="ctr"/>
            <a:r>
              <a:rPr sz="1400" b="1" i="0">
                <a:solidFill>
                  <a:srgbClr val="2E75B6"/>
                </a:solidFill>
              </a:rPr>
              <a:t>Tax &amp;</a:t>
            </a:r>
          </a:p>
        </p:txBody>
      </p:sp>
      <p:sp>
        <p:nvSpPr>
          <p:cNvPr id="21" name="Rectangle 20"/>
          <p:cNvSpPr/>
          <p:nvPr/>
        </p:nvSpPr>
        <p:spPr>
          <a:xfrm>
            <a:off x="6995160" y="2560320"/>
            <a:ext cx="2057400" cy="1261872"/>
          </a:xfrm>
          <a:prstGeom prst="rect">
            <a:avLst/>
          </a:prstGeom>
          <a:solidFill>
            <a:srgbClr val="FFFFFF"/>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r>
              <a:rPr sz="1150">
                <a:solidFill>
                  <a:srgbClr val="404040"/>
                </a:solidFill>
              </a:rPr>
              <a:t>Show the tax effect and
non-controlling interest
effect of each adjustment</a:t>
            </a:r>
          </a:p>
        </p:txBody>
      </p:sp>
      <p:sp>
        <p:nvSpPr>
          <p:cNvPr id="22" name="Can 21"/>
          <p:cNvSpPr/>
          <p:nvPr/>
        </p:nvSpPr>
        <p:spPr>
          <a:xfrm>
            <a:off x="9079992" y="2103120"/>
            <a:ext cx="13716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75520" y="1554480"/>
            <a:ext cx="777240" cy="777240"/>
          </a:xfrm>
          <a:prstGeom prst="ellipse">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rPr>
              <a:t>5</a:t>
            </a:r>
          </a:p>
        </p:txBody>
      </p:sp>
      <p:sp>
        <p:nvSpPr>
          <p:cNvPr id="24" name="TextBox 23"/>
          <p:cNvSpPr txBox="1"/>
          <p:nvPr/>
        </p:nvSpPr>
        <p:spPr>
          <a:xfrm>
            <a:off x="9235440" y="2057400"/>
            <a:ext cx="2057400" cy="411480"/>
          </a:xfrm>
          <a:prstGeom prst="rect">
            <a:avLst/>
          </a:prstGeom>
          <a:noFill/>
        </p:spPr>
        <p:txBody>
          <a:bodyPr wrap="square">
            <a:spAutoFit/>
          </a:bodyPr>
          <a:lstStyle/>
          <a:p>
            <a:pPr algn="ctr"/>
            <a:r>
              <a:rPr sz="1400" b="1" i="0">
                <a:solidFill>
                  <a:srgbClr val="1F5C99"/>
                </a:solidFill>
              </a:rPr>
              <a:t>Consistency</a:t>
            </a:r>
          </a:p>
        </p:txBody>
      </p:sp>
      <p:sp>
        <p:nvSpPr>
          <p:cNvPr id="25" name="Rectangle 24"/>
          <p:cNvSpPr/>
          <p:nvPr/>
        </p:nvSpPr>
        <p:spPr>
          <a:xfrm>
            <a:off x="9235440" y="2560320"/>
            <a:ext cx="2057400" cy="1261872"/>
          </a:xfrm>
          <a:prstGeom prst="rect">
            <a:avLst/>
          </a:prstGeom>
          <a:solidFill>
            <a:srgbClr val="FFFFFF"/>
          </a:solidFill>
          <a:ln w="19050">
            <a:solidFill>
              <a:srgbClr val="1F5C99"/>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r>
              <a:rPr sz="1150">
                <a:solidFill>
                  <a:srgbClr val="404040"/>
                </a:solidFill>
              </a:rPr>
              <a:t>Apply the same definition
consistently year-over-year;
disclose changes</a:t>
            </a:r>
          </a:p>
        </p:txBody>
      </p:sp>
      <p:sp>
        <p:nvSpPr>
          <p:cNvPr id="26" name="Rectangle 25"/>
          <p:cNvSpPr/>
          <p:nvPr/>
        </p:nvSpPr>
        <p:spPr>
          <a:xfrm>
            <a:off x="274320" y="4114800"/>
            <a:ext cx="11640312"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l"/>
            <a:r>
              <a:rPr sz="1200" b="0" i="0">
                <a:solidFill>
                  <a:srgbClr val="FFFFFF"/>
                </a:solidFill>
              </a:rPr>
              <a:t>⚡  Prominence Rule:  MPMs must NOT be given more prominence than the nearest comparable mandatory IFRS subtotal
in ANY communication — including earnings releases, investor presentations, and management commentary.</a:t>
            </a:r>
          </a:p>
        </p:txBody>
      </p:sp>
      <p:sp>
        <p:nvSpPr>
          <p:cNvPr id="27" name="TextBox 26"/>
          <p:cNvSpPr txBox="1"/>
          <p:nvPr/>
        </p:nvSpPr>
        <p:spPr>
          <a:xfrm>
            <a:off x="274320" y="5029200"/>
            <a:ext cx="4114800" cy="365760"/>
          </a:xfrm>
          <a:prstGeom prst="rect">
            <a:avLst/>
          </a:prstGeom>
          <a:noFill/>
        </p:spPr>
        <p:txBody>
          <a:bodyPr wrap="square">
            <a:spAutoFit/>
          </a:bodyPr>
          <a:lstStyle/>
          <a:p>
            <a:pPr algn="l"/>
            <a:r>
              <a:rPr sz="1300" b="1" i="0">
                <a:solidFill>
                  <a:srgbClr val="1F3864"/>
                </a:solidFill>
              </a:rPr>
              <a:t>Example MPM Reconciliation</a:t>
            </a:r>
          </a:p>
        </p:txBody>
      </p:sp>
      <p:sp>
        <p:nvSpPr>
          <p:cNvPr id="28" name="Rectangle 27"/>
          <p:cNvSpPr/>
          <p:nvPr/>
        </p:nvSpPr>
        <p:spPr>
          <a:xfrm>
            <a:off x="274320" y="5440680"/>
            <a:ext cx="4389120" cy="210312"/>
          </a:xfrm>
          <a:prstGeom prst="rect">
            <a:avLst/>
          </a:prstGeom>
          <a:solidFill>
            <a:srgbClr val="DEEAF1"/>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0" i="0">
                <a:solidFill>
                  <a:srgbClr val="404040"/>
                </a:solidFill>
              </a:rPr>
              <a:t>Operating Profit (IFRS)</a:t>
            </a:r>
          </a:p>
        </p:txBody>
      </p:sp>
      <p:sp>
        <p:nvSpPr>
          <p:cNvPr id="29" name="Rectangle 28"/>
          <p:cNvSpPr/>
          <p:nvPr/>
        </p:nvSpPr>
        <p:spPr>
          <a:xfrm>
            <a:off x="4709160" y="5440680"/>
            <a:ext cx="777240" cy="210312"/>
          </a:xfrm>
          <a:prstGeom prst="rect">
            <a:avLst/>
          </a:prstGeom>
          <a:solidFill>
            <a:srgbClr val="DEEAF1"/>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1000" b="0" i="0">
                <a:solidFill>
                  <a:srgbClr val="404040"/>
                </a:solidFill>
              </a:rPr>
              <a:t>2,500</a:t>
            </a:r>
          </a:p>
        </p:txBody>
      </p:sp>
      <p:sp>
        <p:nvSpPr>
          <p:cNvPr id="30" name="Rectangle 29"/>
          <p:cNvSpPr/>
          <p:nvPr/>
        </p:nvSpPr>
        <p:spPr>
          <a:xfrm>
            <a:off x="274320" y="5660136"/>
            <a:ext cx="4389120" cy="210312"/>
          </a:xfrm>
          <a:prstGeom prst="rect">
            <a:avLst/>
          </a:prstGeom>
          <a:solidFill>
            <a:srgbClr val="FFFFFF"/>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0" i="0">
                <a:solidFill>
                  <a:srgbClr val="404040"/>
                </a:solidFill>
              </a:rPr>
              <a:t>Add: Restructuring costs</a:t>
            </a:r>
          </a:p>
        </p:txBody>
      </p:sp>
      <p:sp>
        <p:nvSpPr>
          <p:cNvPr id="31" name="Rectangle 30"/>
          <p:cNvSpPr/>
          <p:nvPr/>
        </p:nvSpPr>
        <p:spPr>
          <a:xfrm>
            <a:off x="4709160" y="5660136"/>
            <a:ext cx="777240" cy="210312"/>
          </a:xfrm>
          <a:prstGeom prst="rect">
            <a:avLst/>
          </a:prstGeom>
          <a:solidFill>
            <a:srgbClr val="FFFFFF"/>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1000" b="0" i="0">
                <a:solidFill>
                  <a:srgbClr val="404040"/>
                </a:solidFill>
              </a:rPr>
              <a:t>  150</a:t>
            </a:r>
          </a:p>
        </p:txBody>
      </p:sp>
      <p:sp>
        <p:nvSpPr>
          <p:cNvPr id="32" name="Rectangle 31"/>
          <p:cNvSpPr/>
          <p:nvPr/>
        </p:nvSpPr>
        <p:spPr>
          <a:xfrm>
            <a:off x="274320" y="5879592"/>
            <a:ext cx="4389120" cy="210312"/>
          </a:xfrm>
          <a:prstGeom prst="rect">
            <a:avLst/>
          </a:prstGeom>
          <a:solidFill>
            <a:srgbClr val="DEEAF1"/>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0" i="0">
                <a:solidFill>
                  <a:srgbClr val="404040"/>
                </a:solidFill>
              </a:rPr>
              <a:t>Add: Impairment of goodwill</a:t>
            </a:r>
          </a:p>
        </p:txBody>
      </p:sp>
      <p:sp>
        <p:nvSpPr>
          <p:cNvPr id="33" name="Rectangle 32"/>
          <p:cNvSpPr/>
          <p:nvPr/>
        </p:nvSpPr>
        <p:spPr>
          <a:xfrm>
            <a:off x="4709160" y="5879592"/>
            <a:ext cx="777240" cy="210312"/>
          </a:xfrm>
          <a:prstGeom prst="rect">
            <a:avLst/>
          </a:prstGeom>
          <a:solidFill>
            <a:srgbClr val="DEEAF1"/>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1000" b="0" i="0">
                <a:solidFill>
                  <a:srgbClr val="404040"/>
                </a:solidFill>
              </a:rPr>
              <a:t>  200</a:t>
            </a:r>
          </a:p>
        </p:txBody>
      </p:sp>
      <p:sp>
        <p:nvSpPr>
          <p:cNvPr id="34" name="Rectangle 33"/>
          <p:cNvSpPr/>
          <p:nvPr/>
        </p:nvSpPr>
        <p:spPr>
          <a:xfrm>
            <a:off x="274320" y="6099048"/>
            <a:ext cx="4389120" cy="210312"/>
          </a:xfrm>
          <a:prstGeom prst="rect">
            <a:avLst/>
          </a:prstGeom>
          <a:solidFill>
            <a:srgbClr val="FFFFFF"/>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0" i="0">
                <a:solidFill>
                  <a:srgbClr val="404040"/>
                </a:solidFill>
              </a:rPr>
              <a:t>Less: Gain on disposal</a:t>
            </a:r>
          </a:p>
        </p:txBody>
      </p:sp>
      <p:sp>
        <p:nvSpPr>
          <p:cNvPr id="35" name="Rectangle 34"/>
          <p:cNvSpPr/>
          <p:nvPr/>
        </p:nvSpPr>
        <p:spPr>
          <a:xfrm>
            <a:off x="4709160" y="6099048"/>
            <a:ext cx="777240" cy="210312"/>
          </a:xfrm>
          <a:prstGeom prst="rect">
            <a:avLst/>
          </a:prstGeom>
          <a:solidFill>
            <a:srgbClr val="FFFFFF"/>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1000" b="0" i="0">
                <a:solidFill>
                  <a:srgbClr val="404040"/>
                </a:solidFill>
              </a:rPr>
              <a:t> (80)</a:t>
            </a:r>
          </a:p>
        </p:txBody>
      </p:sp>
      <p:sp>
        <p:nvSpPr>
          <p:cNvPr id="36" name="Rectangle 35"/>
          <p:cNvSpPr/>
          <p:nvPr/>
        </p:nvSpPr>
        <p:spPr>
          <a:xfrm>
            <a:off x="274320" y="6318504"/>
            <a:ext cx="4389120" cy="210312"/>
          </a:xfrm>
          <a:prstGeom prst="rect">
            <a:avLst/>
          </a:prstGeom>
          <a:solidFill>
            <a:srgbClr val="2E75B6"/>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i="0">
                <a:solidFill>
                  <a:srgbClr val="FFFFFF"/>
                </a:solidFill>
              </a:rPr>
              <a:t>= Adjusted Operating Profit (MPM)</a:t>
            </a:r>
          </a:p>
        </p:txBody>
      </p:sp>
      <p:sp>
        <p:nvSpPr>
          <p:cNvPr id="37" name="Rectangle 36"/>
          <p:cNvSpPr/>
          <p:nvPr/>
        </p:nvSpPr>
        <p:spPr>
          <a:xfrm>
            <a:off x="4709160" y="6318504"/>
            <a:ext cx="777240" cy="210312"/>
          </a:xfrm>
          <a:prstGeom prst="rect">
            <a:avLst/>
          </a:prstGeom>
          <a:solidFill>
            <a:srgbClr val="2E75B6"/>
          </a:solidFill>
          <a:ln w="6350">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1000" b="1" i="0">
                <a:solidFill>
                  <a:srgbClr val="FFFFFF"/>
                </a:solidFill>
              </a:rPr>
              <a:t>2,770</a:t>
            </a:r>
          </a:p>
        </p:txBody>
      </p:sp>
      <p:sp>
        <p:nvSpPr>
          <p:cNvPr id="38" name="Rectangle 37"/>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Aggregation &amp; Disaggregation Principles</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When to combine — and when to separate — line items</a:t>
            </a:r>
          </a:p>
        </p:txBody>
      </p:sp>
      <p:sp>
        <p:nvSpPr>
          <p:cNvPr id="7" name="Rectangle 6"/>
          <p:cNvSpPr/>
          <p:nvPr/>
        </p:nvSpPr>
        <p:spPr>
          <a:xfrm>
            <a:off x="274320" y="1371600"/>
            <a:ext cx="548640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AGGREGATION — When to Combine</a:t>
            </a:r>
          </a:p>
        </p:txBody>
      </p:sp>
      <p:sp>
        <p:nvSpPr>
          <p:cNvPr id="8" name="Rectangle 7"/>
          <p:cNvSpPr/>
          <p:nvPr/>
        </p:nvSpPr>
        <p:spPr>
          <a:xfrm>
            <a:off x="274320" y="1783080"/>
            <a:ext cx="5486400" cy="46177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Items may be aggregated only when they have:</a:t>
            </a:r>
          </a:p>
          <a:p>
            <a:pPr algn="l">
              <a:spcBef>
                <a:spcPts val="300"/>
              </a:spcBef>
            </a:pPr>
            <a:r>
              <a:rPr sz="1200">
                <a:solidFill>
                  <a:srgbClr val="404040"/>
                </a:solidFill>
              </a:rPr>
              <a:t/>
            </a:r>
          </a:p>
          <a:p>
            <a:pPr algn="l">
              <a:spcBef>
                <a:spcPts val="300"/>
              </a:spcBef>
            </a:pPr>
            <a:r>
              <a:rPr sz="1200">
                <a:solidFill>
                  <a:srgbClr val="404040"/>
                </a:solidFill>
              </a:rPr>
              <a:t>  • Similar nature AND</a:t>
            </a:r>
          </a:p>
          <a:p>
            <a:pPr algn="l">
              <a:spcBef>
                <a:spcPts val="300"/>
              </a:spcBef>
            </a:pPr>
            <a:r>
              <a:rPr sz="1200">
                <a:solidFill>
                  <a:srgbClr val="404040"/>
                </a:solidFill>
              </a:rPr>
              <a:t>  • Similar function in the entity's activities</a:t>
            </a:r>
          </a:p>
          <a:p>
            <a:pPr algn="l">
              <a:spcBef>
                <a:spcPts val="300"/>
              </a:spcBef>
            </a:pPr>
            <a:r>
              <a:rPr sz="1200">
                <a:solidFill>
                  <a:srgbClr val="404040"/>
                </a:solidFill>
              </a:rPr>
              <a:t/>
            </a:r>
          </a:p>
          <a:p>
            <a:pPr algn="l">
              <a:spcBef>
                <a:spcPts val="300"/>
              </a:spcBef>
            </a:pPr>
            <a:r>
              <a:rPr sz="1200">
                <a:solidFill>
                  <a:srgbClr val="404040"/>
                </a:solidFill>
              </a:rPr>
              <a:t>Examples of items that CAN be aggregated:</a:t>
            </a:r>
          </a:p>
          <a:p>
            <a:pPr algn="l">
              <a:spcBef>
                <a:spcPts val="300"/>
              </a:spcBef>
            </a:pPr>
            <a:r>
              <a:rPr sz="1200">
                <a:solidFill>
                  <a:srgbClr val="404040"/>
                </a:solidFill>
              </a:rPr>
              <a:t>  • Multiple revenue streams with same nature</a:t>
            </a:r>
          </a:p>
          <a:p>
            <a:pPr algn="l">
              <a:spcBef>
                <a:spcPts val="300"/>
              </a:spcBef>
            </a:pPr>
            <a:r>
              <a:rPr sz="1200">
                <a:solidFill>
                  <a:srgbClr val="404040"/>
                </a:solidFill>
              </a:rPr>
              <a:t>  • Similar operating costs (same function)</a:t>
            </a:r>
          </a:p>
          <a:p>
            <a:pPr algn="l">
              <a:spcBef>
                <a:spcPts val="300"/>
              </a:spcBef>
            </a:pPr>
            <a:r>
              <a:rPr sz="1200">
                <a:solidFill>
                  <a:srgbClr val="404040"/>
                </a:solidFill>
              </a:rPr>
              <a:t/>
            </a:r>
          </a:p>
          <a:p>
            <a:pPr algn="l">
              <a:spcBef>
                <a:spcPts val="300"/>
              </a:spcBef>
            </a:pPr>
            <a:r>
              <a:rPr sz="1200">
                <a:solidFill>
                  <a:srgbClr val="404040"/>
                </a:solidFill>
              </a:rPr>
              <a:t>Why it matters:</a:t>
            </a:r>
          </a:p>
          <a:p>
            <a:pPr algn="l">
              <a:spcBef>
                <a:spcPts val="300"/>
              </a:spcBef>
            </a:pPr>
            <a:r>
              <a:rPr sz="1200">
                <a:solidFill>
                  <a:srgbClr val="404040"/>
                </a:solidFill>
              </a:rPr>
              <a:t>  • Prevents over-disclosure / clutter</a:t>
            </a:r>
          </a:p>
          <a:p>
            <a:pPr algn="l">
              <a:spcBef>
                <a:spcPts val="300"/>
              </a:spcBef>
            </a:pPr>
            <a:r>
              <a:rPr sz="1200">
                <a:solidFill>
                  <a:srgbClr val="404040"/>
                </a:solidFill>
              </a:rPr>
              <a:t>  • Reduces information overload for users</a:t>
            </a:r>
          </a:p>
          <a:p>
            <a:pPr algn="l">
              <a:spcBef>
                <a:spcPts val="300"/>
              </a:spcBef>
            </a:pPr>
            <a:r>
              <a:rPr sz="1200">
                <a:solidFill>
                  <a:srgbClr val="404040"/>
                </a:solidFill>
              </a:rPr>
              <a:t>  • Must not obscure material information</a:t>
            </a:r>
          </a:p>
        </p:txBody>
      </p:sp>
      <p:sp>
        <p:nvSpPr>
          <p:cNvPr id="9" name="Rectangle 8"/>
          <p:cNvSpPr/>
          <p:nvPr/>
        </p:nvSpPr>
        <p:spPr>
          <a:xfrm>
            <a:off x="6035040" y="1371600"/>
            <a:ext cx="585216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DISAGGREGATION — When to Separate</a:t>
            </a:r>
          </a:p>
        </p:txBody>
      </p:sp>
      <p:sp>
        <p:nvSpPr>
          <p:cNvPr id="10" name="Rectangle 9"/>
          <p:cNvSpPr/>
          <p:nvPr/>
        </p:nvSpPr>
        <p:spPr>
          <a:xfrm>
            <a:off x="6035040" y="1783080"/>
            <a:ext cx="5852160" cy="46177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200">
                <a:solidFill>
                  <a:srgbClr val="404040"/>
                </a:solidFill>
              </a:rPr>
              <a:t>Items MUST be disaggregated when they have:</a:t>
            </a:r>
          </a:p>
          <a:p>
            <a:pPr algn="l">
              <a:spcBef>
                <a:spcPts val="300"/>
              </a:spcBef>
            </a:pPr>
            <a:r>
              <a:rPr sz="1200">
                <a:solidFill>
                  <a:srgbClr val="404040"/>
                </a:solidFill>
              </a:rPr>
              <a:t/>
            </a:r>
          </a:p>
          <a:p>
            <a:pPr algn="l">
              <a:spcBef>
                <a:spcPts val="300"/>
              </a:spcBef>
            </a:pPr>
            <a:r>
              <a:rPr sz="1200">
                <a:solidFill>
                  <a:srgbClr val="404040"/>
                </a:solidFill>
              </a:rPr>
              <a:t>  • Different nature OR different function, AND</a:t>
            </a:r>
          </a:p>
          <a:p>
            <a:pPr algn="l">
              <a:spcBef>
                <a:spcPts val="300"/>
              </a:spcBef>
            </a:pPr>
            <a:r>
              <a:rPr sz="1200">
                <a:solidFill>
                  <a:srgbClr val="404040"/>
                </a:solidFill>
              </a:rPr>
              <a:t>  • Material individually</a:t>
            </a:r>
          </a:p>
          <a:p>
            <a:pPr algn="l">
              <a:spcBef>
                <a:spcPts val="300"/>
              </a:spcBef>
            </a:pPr>
            <a:r>
              <a:rPr sz="1200">
                <a:solidFill>
                  <a:srgbClr val="404040"/>
                </a:solidFill>
              </a:rPr>
              <a:t/>
            </a:r>
          </a:p>
          <a:p>
            <a:pPr algn="l">
              <a:spcBef>
                <a:spcPts val="300"/>
              </a:spcBef>
            </a:pPr>
            <a:r>
              <a:rPr sz="1200">
                <a:solidFill>
                  <a:srgbClr val="404040"/>
                </a:solidFill>
              </a:rPr>
              <a:t>Examples requiring separate presentation:</a:t>
            </a:r>
          </a:p>
          <a:p>
            <a:pPr algn="l">
              <a:spcBef>
                <a:spcPts val="300"/>
              </a:spcBef>
            </a:pPr>
            <a:r>
              <a:rPr sz="1200">
                <a:solidFill>
                  <a:srgbClr val="404040"/>
                </a:solidFill>
              </a:rPr>
              <a:t>  • Revenue vs. other operating income</a:t>
            </a:r>
          </a:p>
          <a:p>
            <a:pPr algn="l">
              <a:spcBef>
                <a:spcPts val="300"/>
              </a:spcBef>
            </a:pPr>
            <a:r>
              <a:rPr sz="1200">
                <a:solidFill>
                  <a:srgbClr val="404040"/>
                </a:solidFill>
              </a:rPr>
              <a:t>  • Finance income vs. finance costs</a:t>
            </a:r>
          </a:p>
          <a:p>
            <a:pPr algn="l">
              <a:spcBef>
                <a:spcPts val="300"/>
              </a:spcBef>
            </a:pPr>
            <a:r>
              <a:rPr sz="1200">
                <a:solidFill>
                  <a:srgbClr val="404040"/>
                </a:solidFill>
              </a:rPr>
              <a:t>  • Restructuring costs (if material)</a:t>
            </a:r>
          </a:p>
          <a:p>
            <a:pPr algn="l">
              <a:spcBef>
                <a:spcPts val="300"/>
              </a:spcBef>
            </a:pPr>
            <a:r>
              <a:rPr sz="1200">
                <a:solidFill>
                  <a:srgbClr val="404040"/>
                </a:solidFill>
              </a:rPr>
              <a:t>  • Write-downs (vs. routine depreciation)</a:t>
            </a:r>
          </a:p>
          <a:p>
            <a:pPr algn="l">
              <a:spcBef>
                <a:spcPts val="300"/>
              </a:spcBef>
            </a:pPr>
            <a:r>
              <a:rPr sz="1200">
                <a:solidFill>
                  <a:srgbClr val="404040"/>
                </a:solidFill>
              </a:rPr>
              <a:t/>
            </a:r>
          </a:p>
          <a:p>
            <a:pPr algn="l">
              <a:spcBef>
                <a:spcPts val="300"/>
              </a:spcBef>
            </a:pPr>
            <a:r>
              <a:rPr sz="1200">
                <a:solidFill>
                  <a:srgbClr val="404040"/>
                </a:solidFill>
              </a:rPr>
              <a:t>Minimum line items required:</a:t>
            </a:r>
          </a:p>
          <a:p>
            <a:pPr algn="l">
              <a:spcBef>
                <a:spcPts val="300"/>
              </a:spcBef>
            </a:pPr>
            <a:r>
              <a:rPr sz="1200">
                <a:solidFill>
                  <a:srgbClr val="404040"/>
                </a:solidFill>
              </a:rPr>
              <a:t>  • Revenue (separately from other income)</a:t>
            </a:r>
          </a:p>
          <a:p>
            <a:pPr algn="l">
              <a:spcBef>
                <a:spcPts val="300"/>
              </a:spcBef>
            </a:pPr>
            <a:r>
              <a:rPr sz="1200">
                <a:solidFill>
                  <a:srgbClr val="404040"/>
                </a:solidFill>
              </a:rPr>
              <a:t>  • Share of P&amp;L of associates (if applicable)</a:t>
            </a:r>
          </a:p>
          <a:p>
            <a:pPr algn="l">
              <a:spcBef>
                <a:spcPts val="300"/>
              </a:spcBef>
            </a:pPr>
            <a:r>
              <a:rPr sz="1200">
                <a:solidFill>
                  <a:srgbClr val="404040"/>
                </a:solidFill>
              </a:rPr>
              <a:t>  • Income tax expense</a:t>
            </a:r>
          </a:p>
        </p:txBody>
      </p:sp>
      <p:sp>
        <p:nvSpPr>
          <p:cNvPr id="11" name="Rectangle 10"/>
          <p:cNvSpPr/>
          <p:nvPr/>
        </p:nvSpPr>
        <p:spPr>
          <a:xfrm>
            <a:off x="274320" y="6492240"/>
            <a:ext cx="11640312" cy="43891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200" b="0" i="0">
                <a:solidFill>
                  <a:srgbClr val="FFFFFF"/>
                </a:solidFill>
              </a:rPr>
              <a:t>Core Principle:  Information must be presented at a level that gives users a faithful and complete picture — neither too detailed nor too condensed.</a:t>
            </a:r>
          </a:p>
        </p:txBody>
      </p:sp>
      <p:sp>
        <p:nvSpPr>
          <p:cNvPr id="12" name="Rectangle 11"/>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Changes to the Statement of Cash Flows</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Improved consistency between P&amp;L categories and cash flow classification</a:t>
            </a:r>
          </a:p>
        </p:txBody>
      </p:sp>
      <p:sp>
        <p:nvSpPr>
          <p:cNvPr id="7" name="TextBox 6"/>
          <p:cNvSpPr txBox="1"/>
          <p:nvPr/>
        </p:nvSpPr>
        <p:spPr>
          <a:xfrm>
            <a:off x="274320" y="1417320"/>
            <a:ext cx="3657600" cy="365760"/>
          </a:xfrm>
          <a:prstGeom prst="rect">
            <a:avLst/>
          </a:prstGeom>
          <a:noFill/>
        </p:spPr>
        <p:txBody>
          <a:bodyPr wrap="square">
            <a:spAutoFit/>
          </a:bodyPr>
          <a:lstStyle/>
          <a:p>
            <a:pPr algn="l"/>
            <a:r>
              <a:rPr sz="1400" b="1" i="0">
                <a:solidFill>
                  <a:srgbClr val="C05020"/>
                </a:solidFill>
              </a:rPr>
              <a:t>Under IAS 7 (Old)</a:t>
            </a:r>
          </a:p>
        </p:txBody>
      </p:sp>
      <p:sp>
        <p:nvSpPr>
          <p:cNvPr id="8" name="TextBox 7"/>
          <p:cNvSpPr txBox="1"/>
          <p:nvPr/>
        </p:nvSpPr>
        <p:spPr>
          <a:xfrm>
            <a:off x="6400800" y="1417320"/>
            <a:ext cx="3657600" cy="365760"/>
          </a:xfrm>
          <a:prstGeom prst="rect">
            <a:avLst/>
          </a:prstGeom>
          <a:noFill/>
        </p:spPr>
        <p:txBody>
          <a:bodyPr wrap="square">
            <a:spAutoFit/>
          </a:bodyPr>
          <a:lstStyle/>
          <a:p>
            <a:pPr algn="l"/>
            <a:r>
              <a:rPr sz="1400" b="1" i="0">
                <a:solidFill>
                  <a:srgbClr val="70AD47"/>
                </a:solidFill>
              </a:rPr>
              <a:t>Under IFRS 18 (New)</a:t>
            </a:r>
          </a:p>
        </p:txBody>
      </p:sp>
      <p:sp>
        <p:nvSpPr>
          <p:cNvPr id="9" name="Rectangle 8"/>
          <p:cNvSpPr/>
          <p:nvPr/>
        </p:nvSpPr>
        <p:spPr>
          <a:xfrm>
            <a:off x="274320" y="1874519"/>
            <a:ext cx="2286000"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Interest Paid</a:t>
            </a:r>
          </a:p>
        </p:txBody>
      </p:sp>
      <p:sp>
        <p:nvSpPr>
          <p:cNvPr id="10" name="Rectangle 9"/>
          <p:cNvSpPr/>
          <p:nvPr/>
        </p:nvSpPr>
        <p:spPr>
          <a:xfrm>
            <a:off x="2606040" y="1874519"/>
            <a:ext cx="3840480" cy="822960"/>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a:solidFill>
                  <a:srgbClr val="404040"/>
                </a:solidFill>
              </a:rPr>
              <a:t>Choice: Operating OR Financing</a:t>
            </a:r>
          </a:p>
        </p:txBody>
      </p:sp>
      <p:sp>
        <p:nvSpPr>
          <p:cNvPr id="11" name="Can 10"/>
          <p:cNvSpPr/>
          <p:nvPr/>
        </p:nvSpPr>
        <p:spPr>
          <a:xfrm>
            <a:off x="6492240" y="2148839"/>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0" y="1874519"/>
            <a:ext cx="5029200" cy="822960"/>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b="1">
                <a:solidFill>
                  <a:srgbClr val="70AD47"/>
                </a:solidFill>
              </a:rPr>
              <a:t>MUST match P&amp;L category
(Operating or Financing — entity's policy)</a:t>
            </a:r>
          </a:p>
          <a:p>
            <a:pPr algn="l"/>
            <a:r>
              <a:rPr sz="1150">
                <a:solidFill>
                  <a:srgbClr val="404040"/>
                </a:solidFill>
              </a:rPr>
              <a:t>(Operating or Financing — entity's policy)</a:t>
            </a:r>
          </a:p>
        </p:txBody>
      </p:sp>
      <p:sp>
        <p:nvSpPr>
          <p:cNvPr id="13" name="Rectangle 12"/>
          <p:cNvSpPr/>
          <p:nvPr/>
        </p:nvSpPr>
        <p:spPr>
          <a:xfrm>
            <a:off x="274320" y="2761487"/>
            <a:ext cx="2286000" cy="82296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Interest Received</a:t>
            </a:r>
          </a:p>
        </p:txBody>
      </p:sp>
      <p:sp>
        <p:nvSpPr>
          <p:cNvPr id="14" name="Rectangle 13"/>
          <p:cNvSpPr/>
          <p:nvPr/>
        </p:nvSpPr>
        <p:spPr>
          <a:xfrm>
            <a:off x="2606040" y="2761487"/>
            <a:ext cx="3840480" cy="822960"/>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a:solidFill>
                  <a:srgbClr val="404040"/>
                </a:solidFill>
              </a:rPr>
              <a:t>Choice: Operating OR Investing</a:t>
            </a:r>
          </a:p>
        </p:txBody>
      </p:sp>
      <p:sp>
        <p:nvSpPr>
          <p:cNvPr id="15" name="Can 14"/>
          <p:cNvSpPr/>
          <p:nvPr/>
        </p:nvSpPr>
        <p:spPr>
          <a:xfrm>
            <a:off x="6492240" y="3035807"/>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761487"/>
            <a:ext cx="5029200" cy="822960"/>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b="1">
                <a:solidFill>
                  <a:srgbClr val="70AD47"/>
                </a:solidFill>
              </a:rPr>
              <a:t>MUST match P&amp;L category
(Operating or Investing — entity's policy)</a:t>
            </a:r>
          </a:p>
          <a:p>
            <a:pPr algn="l"/>
            <a:r>
              <a:rPr sz="1150">
                <a:solidFill>
                  <a:srgbClr val="404040"/>
                </a:solidFill>
              </a:rPr>
              <a:t>(Operating or Investing — entity's policy)</a:t>
            </a:r>
          </a:p>
        </p:txBody>
      </p:sp>
      <p:sp>
        <p:nvSpPr>
          <p:cNvPr id="17" name="Rectangle 16"/>
          <p:cNvSpPr/>
          <p:nvPr/>
        </p:nvSpPr>
        <p:spPr>
          <a:xfrm>
            <a:off x="274320" y="3648455"/>
            <a:ext cx="2286000" cy="8229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Dividends Received</a:t>
            </a:r>
          </a:p>
        </p:txBody>
      </p:sp>
      <p:sp>
        <p:nvSpPr>
          <p:cNvPr id="18" name="Rectangle 17"/>
          <p:cNvSpPr/>
          <p:nvPr/>
        </p:nvSpPr>
        <p:spPr>
          <a:xfrm>
            <a:off x="2606040" y="3648455"/>
            <a:ext cx="3840480" cy="822960"/>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a:solidFill>
                  <a:srgbClr val="404040"/>
                </a:solidFill>
              </a:rPr>
              <a:t>Choice: Operating OR Investing</a:t>
            </a:r>
          </a:p>
        </p:txBody>
      </p:sp>
      <p:sp>
        <p:nvSpPr>
          <p:cNvPr id="19" name="Can 18"/>
          <p:cNvSpPr/>
          <p:nvPr/>
        </p:nvSpPr>
        <p:spPr>
          <a:xfrm>
            <a:off x="6492240" y="3922775"/>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0" y="3648455"/>
            <a:ext cx="5029200" cy="822960"/>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b="1">
                <a:solidFill>
                  <a:srgbClr val="70AD47"/>
                </a:solidFill>
              </a:rPr>
              <a:t>Non-integral: Investing
Integral associates: Operating</a:t>
            </a:r>
          </a:p>
          <a:p>
            <a:pPr algn="l"/>
            <a:r>
              <a:rPr sz="1150">
                <a:solidFill>
                  <a:srgbClr val="404040"/>
                </a:solidFill>
              </a:rPr>
              <a:t>Integral associates: Operating</a:t>
            </a:r>
          </a:p>
        </p:txBody>
      </p:sp>
      <p:sp>
        <p:nvSpPr>
          <p:cNvPr id="21" name="Rectangle 20"/>
          <p:cNvSpPr/>
          <p:nvPr/>
        </p:nvSpPr>
        <p:spPr>
          <a:xfrm>
            <a:off x="274320" y="4535423"/>
            <a:ext cx="2286000" cy="8229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Dividends Paid</a:t>
            </a:r>
          </a:p>
        </p:txBody>
      </p:sp>
      <p:sp>
        <p:nvSpPr>
          <p:cNvPr id="22" name="Rectangle 21"/>
          <p:cNvSpPr/>
          <p:nvPr/>
        </p:nvSpPr>
        <p:spPr>
          <a:xfrm>
            <a:off x="2606040" y="4535423"/>
            <a:ext cx="3840480" cy="822960"/>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a:solidFill>
                  <a:srgbClr val="404040"/>
                </a:solidFill>
              </a:rPr>
              <a:t>Choice: Operating OR Financing</a:t>
            </a:r>
          </a:p>
        </p:txBody>
      </p:sp>
      <p:sp>
        <p:nvSpPr>
          <p:cNvPr id="23" name="Can 22"/>
          <p:cNvSpPr/>
          <p:nvPr/>
        </p:nvSpPr>
        <p:spPr>
          <a:xfrm>
            <a:off x="6492240" y="4809743"/>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4535423"/>
            <a:ext cx="5029200" cy="822960"/>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b="1">
                <a:solidFill>
                  <a:srgbClr val="70AD47"/>
                </a:solidFill>
              </a:rPr>
              <a:t>Financing (equity distribution)
or Operating if policy consistent with P&amp;L</a:t>
            </a:r>
          </a:p>
          <a:p>
            <a:pPr algn="l"/>
            <a:r>
              <a:rPr sz="1150">
                <a:solidFill>
                  <a:srgbClr val="404040"/>
                </a:solidFill>
              </a:rPr>
              <a:t>or Operating if policy consistent with P&amp;L</a:t>
            </a:r>
          </a:p>
        </p:txBody>
      </p:sp>
      <p:sp>
        <p:nvSpPr>
          <p:cNvPr id="25" name="Rectangle 24"/>
          <p:cNvSpPr/>
          <p:nvPr/>
        </p:nvSpPr>
        <p:spPr>
          <a:xfrm>
            <a:off x="274320" y="5422391"/>
            <a:ext cx="2286000" cy="82296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rPr>
              <a:t>Taxes Paid</a:t>
            </a:r>
          </a:p>
        </p:txBody>
      </p:sp>
      <p:sp>
        <p:nvSpPr>
          <p:cNvPr id="26" name="Rectangle 25"/>
          <p:cNvSpPr/>
          <p:nvPr/>
        </p:nvSpPr>
        <p:spPr>
          <a:xfrm>
            <a:off x="2606040" y="5422391"/>
            <a:ext cx="3840480" cy="822960"/>
          </a:xfrm>
          <a:prstGeom prst="rect">
            <a:avLst/>
          </a:prstGeom>
          <a:solidFill>
            <a:srgbClr val="FFFFFF"/>
          </a:solidFill>
          <a:ln w="12700">
            <a:solidFill>
              <a:srgbClr val="C05020"/>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a:solidFill>
                  <a:srgbClr val="404040"/>
                </a:solidFill>
              </a:rPr>
              <a:t>Operating (general rule)
or allocation across activities</a:t>
            </a:r>
          </a:p>
        </p:txBody>
      </p:sp>
      <p:sp>
        <p:nvSpPr>
          <p:cNvPr id="27" name="Can 26"/>
          <p:cNvSpPr/>
          <p:nvPr/>
        </p:nvSpPr>
        <p:spPr>
          <a:xfrm>
            <a:off x="6492240" y="5696711"/>
            <a:ext cx="274320" cy="256032"/>
          </a:xfrm>
          <a:prstGeom prst="can">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0" y="5422391"/>
            <a:ext cx="5029200" cy="822960"/>
          </a:xfrm>
          <a:prstGeom prst="rect">
            <a:avLst/>
          </a:prstGeom>
          <a:solidFill>
            <a:srgbClr val="FFFFFF"/>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150" b="1">
                <a:solidFill>
                  <a:srgbClr val="70AD47"/>
                </a:solidFill>
              </a:rPr>
              <a:t>Consistent allocation required;
enforced link to related P&amp;L items</a:t>
            </a:r>
          </a:p>
          <a:p>
            <a:pPr algn="l"/>
            <a:r>
              <a:rPr sz="1150">
                <a:solidFill>
                  <a:srgbClr val="404040"/>
                </a:solidFill>
              </a:rPr>
              <a:t>enforced link to related P&amp;L items</a:t>
            </a:r>
          </a:p>
        </p:txBody>
      </p:sp>
      <p:sp>
        <p:nvSpPr>
          <p:cNvPr id="29" name="Rectangle 28"/>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88952"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11430000" cy="640080"/>
          </a:xfrm>
          <a:prstGeom prst="rect">
            <a:avLst/>
          </a:prstGeom>
          <a:noFill/>
        </p:spPr>
        <p:txBody>
          <a:bodyPr wrap="square">
            <a:spAutoFit/>
          </a:bodyPr>
          <a:lstStyle/>
          <a:p>
            <a:pPr algn="l"/>
            <a:r>
              <a:rPr sz="2800" b="1" i="0">
                <a:solidFill>
                  <a:srgbClr val="FFFFFF"/>
                </a:solidFill>
              </a:rPr>
              <a:t>Effective Date &amp; Transition Requirements</a:t>
            </a:r>
          </a:p>
        </p:txBody>
      </p:sp>
      <p:sp>
        <p:nvSpPr>
          <p:cNvPr id="6" name="TextBox 5"/>
          <p:cNvSpPr txBox="1"/>
          <p:nvPr/>
        </p:nvSpPr>
        <p:spPr>
          <a:xfrm>
            <a:off x="365760" y="749808"/>
            <a:ext cx="11430000" cy="347472"/>
          </a:xfrm>
          <a:prstGeom prst="rect">
            <a:avLst/>
          </a:prstGeom>
          <a:noFill/>
        </p:spPr>
        <p:txBody>
          <a:bodyPr wrap="square">
            <a:spAutoFit/>
          </a:bodyPr>
          <a:lstStyle/>
          <a:p>
            <a:pPr algn="l"/>
            <a:r>
              <a:rPr sz="1300" b="0" i="0">
                <a:solidFill>
                  <a:srgbClr val="9DC3E6"/>
                </a:solidFill>
              </a:rPr>
              <a:t>How and when to adopt IFRS 18</a:t>
            </a:r>
          </a:p>
        </p:txBody>
      </p:sp>
      <p:sp>
        <p:nvSpPr>
          <p:cNvPr id="7" name="Rectangle 6"/>
          <p:cNvSpPr/>
          <p:nvPr/>
        </p:nvSpPr>
        <p:spPr>
          <a:xfrm>
            <a:off x="457200" y="1874520"/>
            <a:ext cx="11274552" cy="73152"/>
          </a:xfrm>
          <a:prstGeom prst="rect">
            <a:avLst/>
          </a:prstGeom>
          <a:solidFill>
            <a:srgbClr val="9DC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 y="1463040"/>
            <a:ext cx="640080" cy="640080"/>
          </a:xfrm>
          <a:prstGeom prst="ellipse">
            <a:avLst/>
          </a:prstGeom>
          <a:solidFill>
            <a:srgbClr val="2E75B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05840"/>
            <a:ext cx="1645920" cy="411480"/>
          </a:xfrm>
          <a:prstGeom prst="rect">
            <a:avLst/>
          </a:prstGeom>
          <a:noFill/>
        </p:spPr>
        <p:txBody>
          <a:bodyPr wrap="square">
            <a:spAutoFit/>
          </a:bodyPr>
          <a:lstStyle/>
          <a:p>
            <a:pPr algn="ctr"/>
            <a:r>
              <a:rPr sz="1000" b="1" i="0">
                <a:solidFill>
                  <a:srgbClr val="2E75B6"/>
                </a:solidFill>
              </a:rPr>
              <a:t>May 2024</a:t>
            </a:r>
          </a:p>
        </p:txBody>
      </p:sp>
      <p:sp>
        <p:nvSpPr>
          <p:cNvPr id="10" name="TextBox 9"/>
          <p:cNvSpPr txBox="1"/>
          <p:nvPr/>
        </p:nvSpPr>
        <p:spPr>
          <a:xfrm>
            <a:off x="-365760" y="2194560"/>
            <a:ext cx="1645920" cy="548640"/>
          </a:xfrm>
          <a:prstGeom prst="rect">
            <a:avLst/>
          </a:prstGeom>
          <a:noFill/>
        </p:spPr>
        <p:txBody>
          <a:bodyPr wrap="square">
            <a:spAutoFit/>
          </a:bodyPr>
          <a:lstStyle/>
          <a:p>
            <a:pPr algn="ctr"/>
            <a:r>
              <a:rPr sz="1000" b="0" i="0">
                <a:solidFill>
                  <a:srgbClr val="404040"/>
                </a:solidFill>
              </a:rPr>
              <a:t>IFRS 18
Issued</a:t>
            </a:r>
          </a:p>
        </p:txBody>
      </p:sp>
      <p:sp>
        <p:nvSpPr>
          <p:cNvPr id="11" name="Oval 10"/>
          <p:cNvSpPr/>
          <p:nvPr/>
        </p:nvSpPr>
        <p:spPr>
          <a:xfrm>
            <a:off x="2955798" y="1463040"/>
            <a:ext cx="640080" cy="640080"/>
          </a:xfrm>
          <a:prstGeom prst="ellipse">
            <a:avLst/>
          </a:prstGeom>
          <a:solidFill>
            <a:srgbClr val="1F5C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52878" y="1005840"/>
            <a:ext cx="1645920" cy="411480"/>
          </a:xfrm>
          <a:prstGeom prst="rect">
            <a:avLst/>
          </a:prstGeom>
          <a:noFill/>
        </p:spPr>
        <p:txBody>
          <a:bodyPr wrap="square">
            <a:spAutoFit/>
          </a:bodyPr>
          <a:lstStyle/>
          <a:p>
            <a:pPr algn="ctr"/>
            <a:r>
              <a:rPr sz="1000" b="1" i="0">
                <a:solidFill>
                  <a:srgbClr val="1F5C99"/>
                </a:solidFill>
              </a:rPr>
              <a:t>2025 – 2026</a:t>
            </a:r>
          </a:p>
        </p:txBody>
      </p:sp>
      <p:sp>
        <p:nvSpPr>
          <p:cNvPr id="13" name="TextBox 12"/>
          <p:cNvSpPr txBox="1"/>
          <p:nvPr/>
        </p:nvSpPr>
        <p:spPr>
          <a:xfrm>
            <a:off x="2452878" y="2194560"/>
            <a:ext cx="1645920" cy="548640"/>
          </a:xfrm>
          <a:prstGeom prst="rect">
            <a:avLst/>
          </a:prstGeom>
          <a:noFill/>
        </p:spPr>
        <p:txBody>
          <a:bodyPr wrap="square">
            <a:spAutoFit/>
          </a:bodyPr>
          <a:lstStyle/>
          <a:p>
            <a:pPr algn="ctr"/>
            <a:r>
              <a:rPr sz="1000" b="0" i="0">
                <a:solidFill>
                  <a:srgbClr val="404040"/>
                </a:solidFill>
              </a:rPr>
              <a:t>Preparation
&amp; Planning</a:t>
            </a:r>
          </a:p>
        </p:txBody>
      </p:sp>
      <p:sp>
        <p:nvSpPr>
          <p:cNvPr id="14" name="Oval 13"/>
          <p:cNvSpPr/>
          <p:nvPr/>
        </p:nvSpPr>
        <p:spPr>
          <a:xfrm>
            <a:off x="5774436" y="1463040"/>
            <a:ext cx="640080" cy="640080"/>
          </a:xfrm>
          <a:prstGeom prst="ellipse">
            <a:avLst/>
          </a:prstGeom>
          <a:solidFill>
            <a:srgbClr val="ED7D3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71516" y="1005840"/>
            <a:ext cx="1645920" cy="411480"/>
          </a:xfrm>
          <a:prstGeom prst="rect">
            <a:avLst/>
          </a:prstGeom>
          <a:noFill/>
        </p:spPr>
        <p:txBody>
          <a:bodyPr wrap="square">
            <a:spAutoFit/>
          </a:bodyPr>
          <a:lstStyle/>
          <a:p>
            <a:pPr algn="ctr"/>
            <a:r>
              <a:rPr sz="1000" b="1" i="0">
                <a:solidFill>
                  <a:srgbClr val="ED7D31"/>
                </a:solidFill>
              </a:rPr>
              <a:t>1 Jan 2027</a:t>
            </a:r>
          </a:p>
        </p:txBody>
      </p:sp>
      <p:sp>
        <p:nvSpPr>
          <p:cNvPr id="16" name="TextBox 15"/>
          <p:cNvSpPr txBox="1"/>
          <p:nvPr/>
        </p:nvSpPr>
        <p:spPr>
          <a:xfrm>
            <a:off x="5271516" y="2194560"/>
            <a:ext cx="1645920" cy="548640"/>
          </a:xfrm>
          <a:prstGeom prst="rect">
            <a:avLst/>
          </a:prstGeom>
          <a:noFill/>
        </p:spPr>
        <p:txBody>
          <a:bodyPr wrap="square">
            <a:spAutoFit/>
          </a:bodyPr>
          <a:lstStyle/>
          <a:p>
            <a:pPr algn="ctr"/>
            <a:r>
              <a:rPr sz="1000" b="0" i="0">
                <a:solidFill>
                  <a:srgbClr val="404040"/>
                </a:solidFill>
              </a:rPr>
              <a:t>Effective
Date</a:t>
            </a:r>
          </a:p>
        </p:txBody>
      </p:sp>
      <p:sp>
        <p:nvSpPr>
          <p:cNvPr id="17" name="Oval 16"/>
          <p:cNvSpPr/>
          <p:nvPr/>
        </p:nvSpPr>
        <p:spPr>
          <a:xfrm>
            <a:off x="8593074" y="1463040"/>
            <a:ext cx="640080" cy="640080"/>
          </a:xfrm>
          <a:prstGeom prst="ellipse">
            <a:avLst/>
          </a:prstGeom>
          <a:solidFill>
            <a:srgbClr val="70AD4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0154" y="1005840"/>
            <a:ext cx="1645920" cy="411480"/>
          </a:xfrm>
          <a:prstGeom prst="rect">
            <a:avLst/>
          </a:prstGeom>
          <a:noFill/>
        </p:spPr>
        <p:txBody>
          <a:bodyPr wrap="square">
            <a:spAutoFit/>
          </a:bodyPr>
          <a:lstStyle/>
          <a:p>
            <a:pPr algn="ctr"/>
            <a:r>
              <a:rPr sz="1000" b="1" i="0">
                <a:solidFill>
                  <a:srgbClr val="70AD47"/>
                </a:solidFill>
              </a:rPr>
              <a:t>2027 Reports</a:t>
            </a:r>
          </a:p>
        </p:txBody>
      </p:sp>
      <p:sp>
        <p:nvSpPr>
          <p:cNvPr id="19" name="TextBox 18"/>
          <p:cNvSpPr txBox="1"/>
          <p:nvPr/>
        </p:nvSpPr>
        <p:spPr>
          <a:xfrm>
            <a:off x="8090154" y="2194560"/>
            <a:ext cx="1645920" cy="548640"/>
          </a:xfrm>
          <a:prstGeom prst="rect">
            <a:avLst/>
          </a:prstGeom>
          <a:noFill/>
        </p:spPr>
        <p:txBody>
          <a:bodyPr wrap="square">
            <a:spAutoFit/>
          </a:bodyPr>
          <a:lstStyle/>
          <a:p>
            <a:pPr algn="ctr"/>
            <a:r>
              <a:rPr sz="1000" b="0" i="0">
                <a:solidFill>
                  <a:srgbClr val="404040"/>
                </a:solidFill>
              </a:rPr>
              <a:t>First IFRS 18
Statements</a:t>
            </a:r>
          </a:p>
        </p:txBody>
      </p:sp>
      <p:sp>
        <p:nvSpPr>
          <p:cNvPr id="20" name="Oval 19"/>
          <p:cNvSpPr/>
          <p:nvPr/>
        </p:nvSpPr>
        <p:spPr>
          <a:xfrm>
            <a:off x="11411712" y="1463040"/>
            <a:ext cx="640080" cy="640080"/>
          </a:xfrm>
          <a:prstGeom prst="ellipse">
            <a:avLst/>
          </a:prstGeom>
          <a:solidFill>
            <a:srgbClr val="1F386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08792" y="1005840"/>
            <a:ext cx="1645920" cy="411480"/>
          </a:xfrm>
          <a:prstGeom prst="rect">
            <a:avLst/>
          </a:prstGeom>
          <a:noFill/>
        </p:spPr>
        <p:txBody>
          <a:bodyPr wrap="square">
            <a:spAutoFit/>
          </a:bodyPr>
          <a:lstStyle/>
          <a:p>
            <a:pPr algn="ctr"/>
            <a:r>
              <a:rPr sz="1000" b="1" i="0">
                <a:solidFill>
                  <a:srgbClr val="1F3864"/>
                </a:solidFill>
              </a:rPr>
              <a:t>Ongoing</a:t>
            </a:r>
          </a:p>
        </p:txBody>
      </p:sp>
      <p:sp>
        <p:nvSpPr>
          <p:cNvPr id="22" name="TextBox 21"/>
          <p:cNvSpPr txBox="1"/>
          <p:nvPr/>
        </p:nvSpPr>
        <p:spPr>
          <a:xfrm>
            <a:off x="10908792" y="2194560"/>
            <a:ext cx="1645920" cy="548640"/>
          </a:xfrm>
          <a:prstGeom prst="rect">
            <a:avLst/>
          </a:prstGeom>
          <a:noFill/>
        </p:spPr>
        <p:txBody>
          <a:bodyPr wrap="square">
            <a:spAutoFit/>
          </a:bodyPr>
          <a:lstStyle/>
          <a:p>
            <a:pPr algn="ctr"/>
            <a:r>
              <a:rPr sz="1000" b="0" i="0">
                <a:solidFill>
                  <a:srgbClr val="404040"/>
                </a:solidFill>
              </a:rPr>
              <a:t>Continuous
Application</a:t>
            </a:r>
          </a:p>
        </p:txBody>
      </p:sp>
      <p:sp>
        <p:nvSpPr>
          <p:cNvPr id="23" name="Rectangle 22"/>
          <p:cNvSpPr/>
          <p:nvPr/>
        </p:nvSpPr>
        <p:spPr>
          <a:xfrm>
            <a:off x="274320" y="2743200"/>
            <a:ext cx="55778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Retrospective Application</a:t>
            </a:r>
          </a:p>
        </p:txBody>
      </p:sp>
      <p:sp>
        <p:nvSpPr>
          <p:cNvPr id="24" name="Rectangle 23"/>
          <p:cNvSpPr/>
          <p:nvPr/>
        </p:nvSpPr>
        <p:spPr>
          <a:xfrm>
            <a:off x="274320" y="3154680"/>
            <a:ext cx="5577840" cy="7315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IFRS 18 is applied RETROSPECTIVELY — comparative information
must be restated to comply with the new standard.</a:t>
            </a:r>
          </a:p>
        </p:txBody>
      </p:sp>
      <p:sp>
        <p:nvSpPr>
          <p:cNvPr id="25" name="Rectangle 24"/>
          <p:cNvSpPr/>
          <p:nvPr/>
        </p:nvSpPr>
        <p:spPr>
          <a:xfrm>
            <a:off x="274320" y="3977640"/>
            <a:ext cx="55778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Early Adoption</a:t>
            </a:r>
          </a:p>
        </p:txBody>
      </p:sp>
      <p:sp>
        <p:nvSpPr>
          <p:cNvPr id="26" name="Rectangle 25"/>
          <p:cNvSpPr/>
          <p:nvPr/>
        </p:nvSpPr>
        <p:spPr>
          <a:xfrm>
            <a:off x="274320" y="4389120"/>
            <a:ext cx="5577840" cy="7315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Early adoption is permitted for annual periods beginning
before 1 January 2027, provided it is disclosed.</a:t>
            </a:r>
          </a:p>
        </p:txBody>
      </p:sp>
      <p:sp>
        <p:nvSpPr>
          <p:cNvPr id="27" name="Rectangle 26"/>
          <p:cNvSpPr/>
          <p:nvPr/>
        </p:nvSpPr>
        <p:spPr>
          <a:xfrm>
            <a:off x="274320" y="5212080"/>
            <a:ext cx="5577840"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Transition Relief — MPMs</a:t>
            </a:r>
          </a:p>
        </p:txBody>
      </p:sp>
      <p:sp>
        <p:nvSpPr>
          <p:cNvPr id="28" name="Rectangle 27"/>
          <p:cNvSpPr/>
          <p:nvPr/>
        </p:nvSpPr>
        <p:spPr>
          <a:xfrm>
            <a:off x="274320" y="5623560"/>
            <a:ext cx="5577840" cy="7315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Entities need NOT provide comparative MPM disclosures
in the year of initial adoption of IFRS 18.</a:t>
            </a:r>
          </a:p>
        </p:txBody>
      </p:sp>
      <p:sp>
        <p:nvSpPr>
          <p:cNvPr id="29" name="Rectangle 28"/>
          <p:cNvSpPr/>
          <p:nvPr/>
        </p:nvSpPr>
        <p:spPr>
          <a:xfrm>
            <a:off x="6035040" y="2743200"/>
            <a:ext cx="585216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Practical Expedients</a:t>
            </a:r>
          </a:p>
        </p:txBody>
      </p:sp>
      <p:sp>
        <p:nvSpPr>
          <p:cNvPr id="30" name="Rectangle 29"/>
          <p:cNvSpPr/>
          <p:nvPr/>
        </p:nvSpPr>
        <p:spPr>
          <a:xfrm>
            <a:off x="6035040" y="3154680"/>
            <a:ext cx="5852160" cy="7315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The comparative period cash flow statement does NOT
need to be restated on first-time application.</a:t>
            </a:r>
          </a:p>
        </p:txBody>
      </p:sp>
      <p:sp>
        <p:nvSpPr>
          <p:cNvPr id="31" name="Rectangle 30"/>
          <p:cNvSpPr/>
          <p:nvPr/>
        </p:nvSpPr>
        <p:spPr>
          <a:xfrm>
            <a:off x="6035040" y="3977640"/>
            <a:ext cx="585216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Disclosure on Adoption</a:t>
            </a:r>
          </a:p>
        </p:txBody>
      </p:sp>
      <p:sp>
        <p:nvSpPr>
          <p:cNvPr id="32" name="Rectangle 31"/>
          <p:cNvSpPr/>
          <p:nvPr/>
        </p:nvSpPr>
        <p:spPr>
          <a:xfrm>
            <a:off x="6035040" y="4389120"/>
            <a:ext cx="5852160" cy="7315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Must disclose: nature of changes, reason for early adoption (if applicable), and impact on financial statements.</a:t>
            </a:r>
          </a:p>
        </p:txBody>
      </p:sp>
      <p:sp>
        <p:nvSpPr>
          <p:cNvPr id="33" name="Rectangle 32"/>
          <p:cNvSpPr/>
          <p:nvPr/>
        </p:nvSpPr>
        <p:spPr>
          <a:xfrm>
            <a:off x="6035040" y="5212080"/>
            <a:ext cx="5852160" cy="411480"/>
          </a:xfrm>
          <a:prstGeom prst="rect">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l"/>
            <a:r>
              <a:rPr sz="1400" b="1" i="0">
                <a:solidFill>
                  <a:srgbClr val="FFFFFF"/>
                </a:solidFill>
              </a:rPr>
              <a:t>IAS 8 Applicability</a:t>
            </a:r>
          </a:p>
        </p:txBody>
      </p:sp>
      <p:sp>
        <p:nvSpPr>
          <p:cNvPr id="34" name="Rectangle 33"/>
          <p:cNvSpPr/>
          <p:nvPr/>
        </p:nvSpPr>
        <p:spPr>
          <a:xfrm>
            <a:off x="6035040" y="5623560"/>
            <a:ext cx="5852160" cy="731520"/>
          </a:xfrm>
          <a:prstGeom prst="rect">
            <a:avLst/>
          </a:prstGeom>
          <a:solidFill>
            <a:srgbClr val="DEEAF1"/>
          </a:solidFill>
          <a:ln w="9525">
            <a:solidFill>
              <a:srgbClr val="9DC3E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73152"/>
          <a:lstStyle/>
          <a:p>
            <a:pPr algn="l">
              <a:spcBef>
                <a:spcPts val="300"/>
              </a:spcBef>
            </a:pPr>
            <a:r>
              <a:rPr sz="1150">
                <a:solidFill>
                  <a:srgbClr val="404040"/>
                </a:solidFill>
              </a:rPr>
              <a:t>Standard transition requirements under IAS 8 apply to changes
in accounting policies resulting from IFRS 18 adoption.</a:t>
            </a:r>
          </a:p>
        </p:txBody>
      </p:sp>
      <p:sp>
        <p:nvSpPr>
          <p:cNvPr id="35" name="Rectangle 34"/>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685800"/>
          </a:xfrm>
          <a:prstGeom prst="rect">
            <a:avLst/>
          </a:prstGeom>
          <a:noFill/>
        </p:spPr>
        <p:txBody>
          <a:bodyPr wrap="square">
            <a:spAutoFit/>
          </a:bodyPr>
          <a:lstStyle/>
          <a:p>
            <a:pPr algn="l"/>
            <a:r>
              <a:rPr sz="3600" b="1" i="0">
                <a:solidFill>
                  <a:srgbClr val="FFFFFF"/>
                </a:solidFill>
              </a:rPr>
              <a:t>Key Takeaways</a:t>
            </a:r>
          </a:p>
        </p:txBody>
      </p:sp>
      <p:sp>
        <p:nvSpPr>
          <p:cNvPr id="5" name="Rectangle 4"/>
          <p:cNvSpPr/>
          <p:nvPr/>
        </p:nvSpPr>
        <p:spPr>
          <a:xfrm>
            <a:off x="502920" y="960120"/>
            <a:ext cx="4572000"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65760" y="1554480"/>
            <a:ext cx="548640" cy="5486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01</a:t>
            </a:r>
          </a:p>
        </p:txBody>
      </p:sp>
      <p:sp>
        <p:nvSpPr>
          <p:cNvPr id="7" name="TextBox 6"/>
          <p:cNvSpPr txBox="1"/>
          <p:nvPr/>
        </p:nvSpPr>
        <p:spPr>
          <a:xfrm>
            <a:off x="1051560" y="1536192"/>
            <a:ext cx="4389120" cy="384048"/>
          </a:xfrm>
          <a:prstGeom prst="rect">
            <a:avLst/>
          </a:prstGeom>
          <a:noFill/>
        </p:spPr>
        <p:txBody>
          <a:bodyPr wrap="square">
            <a:spAutoFit/>
          </a:bodyPr>
          <a:lstStyle/>
          <a:p>
            <a:pPr algn="l"/>
            <a:r>
              <a:rPr sz="1500" b="1" i="0">
                <a:solidFill>
                  <a:srgbClr val="2E75B6"/>
                </a:solidFill>
              </a:rPr>
              <a:t>Structured P&amp;L</a:t>
            </a:r>
          </a:p>
        </p:txBody>
      </p:sp>
      <p:sp>
        <p:nvSpPr>
          <p:cNvPr id="8" name="TextBox 7"/>
          <p:cNvSpPr txBox="1"/>
          <p:nvPr/>
        </p:nvSpPr>
        <p:spPr>
          <a:xfrm>
            <a:off x="1051560" y="1938528"/>
            <a:ext cx="4389120" cy="685800"/>
          </a:xfrm>
          <a:prstGeom prst="rect">
            <a:avLst/>
          </a:prstGeom>
          <a:noFill/>
        </p:spPr>
        <p:txBody>
          <a:bodyPr wrap="square">
            <a:spAutoFit/>
          </a:bodyPr>
          <a:lstStyle/>
          <a:p>
            <a:pPr algn="l"/>
            <a:r>
              <a:rPr sz="1100" b="0" i="0">
                <a:solidFill>
                  <a:srgbClr val="CCCCCC"/>
                </a:solidFill>
              </a:rPr>
              <a:t>IFRS 18 introduces three mandatory income categories — Operating, Investing, and Financing — eliminating inconsistent classification practices.</a:t>
            </a:r>
          </a:p>
        </p:txBody>
      </p:sp>
      <p:sp>
        <p:nvSpPr>
          <p:cNvPr id="9" name="Oval 8"/>
          <p:cNvSpPr/>
          <p:nvPr/>
        </p:nvSpPr>
        <p:spPr>
          <a:xfrm>
            <a:off x="6126480" y="1554480"/>
            <a:ext cx="548640" cy="548640"/>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02</a:t>
            </a:r>
          </a:p>
        </p:txBody>
      </p:sp>
      <p:sp>
        <p:nvSpPr>
          <p:cNvPr id="10" name="TextBox 9"/>
          <p:cNvSpPr txBox="1"/>
          <p:nvPr/>
        </p:nvSpPr>
        <p:spPr>
          <a:xfrm>
            <a:off x="6812280" y="1536192"/>
            <a:ext cx="4389120" cy="384048"/>
          </a:xfrm>
          <a:prstGeom prst="rect">
            <a:avLst/>
          </a:prstGeom>
          <a:noFill/>
        </p:spPr>
        <p:txBody>
          <a:bodyPr wrap="square">
            <a:spAutoFit/>
          </a:bodyPr>
          <a:lstStyle/>
          <a:p>
            <a:pPr algn="l"/>
            <a:r>
              <a:rPr sz="1500" b="1" i="0">
                <a:solidFill>
                  <a:srgbClr val="ED7D31"/>
                </a:solidFill>
              </a:rPr>
              <a:t>Required Subtotals</a:t>
            </a:r>
          </a:p>
        </p:txBody>
      </p:sp>
      <p:sp>
        <p:nvSpPr>
          <p:cNvPr id="11" name="TextBox 10"/>
          <p:cNvSpPr txBox="1"/>
          <p:nvPr/>
        </p:nvSpPr>
        <p:spPr>
          <a:xfrm>
            <a:off x="6812280" y="1938528"/>
            <a:ext cx="4389120" cy="685800"/>
          </a:xfrm>
          <a:prstGeom prst="rect">
            <a:avLst/>
          </a:prstGeom>
          <a:noFill/>
        </p:spPr>
        <p:txBody>
          <a:bodyPr wrap="square">
            <a:spAutoFit/>
          </a:bodyPr>
          <a:lstStyle/>
          <a:p>
            <a:pPr algn="l"/>
            <a:r>
              <a:rPr sz="1100" b="0" i="0">
                <a:solidFill>
                  <a:srgbClr val="CCCCCC"/>
                </a:solidFill>
              </a:rPr>
              <a:t>Operating Profit and Profit before Financing &amp; Tax are now mandatory subtotals, giving investors a comparable baseline for analysis.</a:t>
            </a:r>
          </a:p>
        </p:txBody>
      </p:sp>
      <p:sp>
        <p:nvSpPr>
          <p:cNvPr id="12" name="Oval 11"/>
          <p:cNvSpPr/>
          <p:nvPr/>
        </p:nvSpPr>
        <p:spPr>
          <a:xfrm>
            <a:off x="365760" y="3108960"/>
            <a:ext cx="548640" cy="5486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03</a:t>
            </a:r>
          </a:p>
        </p:txBody>
      </p:sp>
      <p:sp>
        <p:nvSpPr>
          <p:cNvPr id="13" name="TextBox 12"/>
          <p:cNvSpPr txBox="1"/>
          <p:nvPr/>
        </p:nvSpPr>
        <p:spPr>
          <a:xfrm>
            <a:off x="1051560" y="3090672"/>
            <a:ext cx="4389120" cy="384048"/>
          </a:xfrm>
          <a:prstGeom prst="rect">
            <a:avLst/>
          </a:prstGeom>
          <a:noFill/>
        </p:spPr>
        <p:txBody>
          <a:bodyPr wrap="square">
            <a:spAutoFit/>
          </a:bodyPr>
          <a:lstStyle/>
          <a:p>
            <a:pPr algn="l"/>
            <a:r>
              <a:rPr sz="1500" b="1" i="0">
                <a:solidFill>
                  <a:srgbClr val="2E75B6"/>
                </a:solidFill>
              </a:rPr>
              <a:t>MPM Transparency</a:t>
            </a:r>
          </a:p>
        </p:txBody>
      </p:sp>
      <p:sp>
        <p:nvSpPr>
          <p:cNvPr id="14" name="TextBox 13"/>
          <p:cNvSpPr txBox="1"/>
          <p:nvPr/>
        </p:nvSpPr>
        <p:spPr>
          <a:xfrm>
            <a:off x="1051560" y="3493008"/>
            <a:ext cx="4389120" cy="685800"/>
          </a:xfrm>
          <a:prstGeom prst="rect">
            <a:avLst/>
          </a:prstGeom>
          <a:noFill/>
        </p:spPr>
        <p:txBody>
          <a:bodyPr wrap="square">
            <a:spAutoFit/>
          </a:bodyPr>
          <a:lstStyle/>
          <a:p>
            <a:pPr algn="l"/>
            <a:r>
              <a:rPr sz="1100" b="0" i="0">
                <a:solidFill>
                  <a:srgbClr val="CCCCCC"/>
                </a:solidFill>
              </a:rPr>
              <a:t>Management-defined Performance Measures (MPMs) must be labelled, explained, reconciled to IFRS subtotals, and never given undue prominence.</a:t>
            </a:r>
          </a:p>
        </p:txBody>
      </p:sp>
      <p:sp>
        <p:nvSpPr>
          <p:cNvPr id="15" name="Oval 14"/>
          <p:cNvSpPr/>
          <p:nvPr/>
        </p:nvSpPr>
        <p:spPr>
          <a:xfrm>
            <a:off x="6126480" y="3108960"/>
            <a:ext cx="548640" cy="548640"/>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04</a:t>
            </a:r>
          </a:p>
        </p:txBody>
      </p:sp>
      <p:sp>
        <p:nvSpPr>
          <p:cNvPr id="16" name="TextBox 15"/>
          <p:cNvSpPr txBox="1"/>
          <p:nvPr/>
        </p:nvSpPr>
        <p:spPr>
          <a:xfrm>
            <a:off x="6812280" y="3090672"/>
            <a:ext cx="4389120" cy="384048"/>
          </a:xfrm>
          <a:prstGeom prst="rect">
            <a:avLst/>
          </a:prstGeom>
          <a:noFill/>
        </p:spPr>
        <p:txBody>
          <a:bodyPr wrap="square">
            <a:spAutoFit/>
          </a:bodyPr>
          <a:lstStyle/>
          <a:p>
            <a:pPr algn="l"/>
            <a:r>
              <a:rPr sz="1500" b="1" i="0">
                <a:solidFill>
                  <a:srgbClr val="ED7D31"/>
                </a:solidFill>
              </a:rPr>
              <a:t>Cash Flow Consistency</a:t>
            </a:r>
          </a:p>
        </p:txBody>
      </p:sp>
      <p:sp>
        <p:nvSpPr>
          <p:cNvPr id="17" name="TextBox 16"/>
          <p:cNvSpPr txBox="1"/>
          <p:nvPr/>
        </p:nvSpPr>
        <p:spPr>
          <a:xfrm>
            <a:off x="6812280" y="3493008"/>
            <a:ext cx="4389120" cy="685800"/>
          </a:xfrm>
          <a:prstGeom prst="rect">
            <a:avLst/>
          </a:prstGeom>
          <a:noFill/>
        </p:spPr>
        <p:txBody>
          <a:bodyPr wrap="square">
            <a:spAutoFit/>
          </a:bodyPr>
          <a:lstStyle/>
          <a:p>
            <a:pPr algn="l"/>
            <a:r>
              <a:rPr sz="1100" b="0" i="0">
                <a:solidFill>
                  <a:srgbClr val="CCCCCC"/>
                </a:solidFill>
              </a:rPr>
              <a:t>Cash flow classifications for interest and dividends must align with the entity's P&amp;L category choices — no more arbitrary choices.</a:t>
            </a:r>
          </a:p>
        </p:txBody>
      </p:sp>
      <p:sp>
        <p:nvSpPr>
          <p:cNvPr id="18" name="Oval 17"/>
          <p:cNvSpPr/>
          <p:nvPr/>
        </p:nvSpPr>
        <p:spPr>
          <a:xfrm>
            <a:off x="365760" y="4663440"/>
            <a:ext cx="548640" cy="5486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05</a:t>
            </a:r>
          </a:p>
        </p:txBody>
      </p:sp>
      <p:sp>
        <p:nvSpPr>
          <p:cNvPr id="19" name="TextBox 18"/>
          <p:cNvSpPr txBox="1"/>
          <p:nvPr/>
        </p:nvSpPr>
        <p:spPr>
          <a:xfrm>
            <a:off x="1051560" y="4645152"/>
            <a:ext cx="4389120" cy="384048"/>
          </a:xfrm>
          <a:prstGeom prst="rect">
            <a:avLst/>
          </a:prstGeom>
          <a:noFill/>
        </p:spPr>
        <p:txBody>
          <a:bodyPr wrap="square">
            <a:spAutoFit/>
          </a:bodyPr>
          <a:lstStyle/>
          <a:p>
            <a:pPr algn="l"/>
            <a:r>
              <a:rPr sz="1500" b="1" i="0">
                <a:solidFill>
                  <a:srgbClr val="2E75B6"/>
                </a:solidFill>
              </a:rPr>
              <a:t>Better Aggregation Rules</a:t>
            </a:r>
          </a:p>
        </p:txBody>
      </p:sp>
      <p:sp>
        <p:nvSpPr>
          <p:cNvPr id="20" name="TextBox 19"/>
          <p:cNvSpPr txBox="1"/>
          <p:nvPr/>
        </p:nvSpPr>
        <p:spPr>
          <a:xfrm>
            <a:off x="1051560" y="5047488"/>
            <a:ext cx="4389120" cy="685800"/>
          </a:xfrm>
          <a:prstGeom prst="rect">
            <a:avLst/>
          </a:prstGeom>
          <a:noFill/>
        </p:spPr>
        <p:txBody>
          <a:bodyPr wrap="square">
            <a:spAutoFit/>
          </a:bodyPr>
          <a:lstStyle/>
          <a:p>
            <a:pPr algn="l"/>
            <a:r>
              <a:rPr sz="1100" b="0" i="0">
                <a:solidFill>
                  <a:srgbClr val="CCCCCC"/>
                </a:solidFill>
              </a:rPr>
              <a:t>Clear principles ensure that material items are separately disclosed and similar items are appropriately grouped for readability.</a:t>
            </a:r>
          </a:p>
        </p:txBody>
      </p:sp>
      <p:sp>
        <p:nvSpPr>
          <p:cNvPr id="21" name="Oval 20"/>
          <p:cNvSpPr/>
          <p:nvPr/>
        </p:nvSpPr>
        <p:spPr>
          <a:xfrm>
            <a:off x="6126480" y="4663440"/>
            <a:ext cx="548640" cy="548640"/>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rPr>
              <a:t>06</a:t>
            </a:r>
          </a:p>
        </p:txBody>
      </p:sp>
      <p:sp>
        <p:nvSpPr>
          <p:cNvPr id="22" name="TextBox 21"/>
          <p:cNvSpPr txBox="1"/>
          <p:nvPr/>
        </p:nvSpPr>
        <p:spPr>
          <a:xfrm>
            <a:off x="6812280" y="4645152"/>
            <a:ext cx="4389120" cy="384048"/>
          </a:xfrm>
          <a:prstGeom prst="rect">
            <a:avLst/>
          </a:prstGeom>
          <a:noFill/>
        </p:spPr>
        <p:txBody>
          <a:bodyPr wrap="square">
            <a:spAutoFit/>
          </a:bodyPr>
          <a:lstStyle/>
          <a:p>
            <a:pPr algn="l"/>
            <a:r>
              <a:rPr sz="1500" b="1" i="0">
                <a:solidFill>
                  <a:srgbClr val="ED7D31"/>
                </a:solidFill>
              </a:rPr>
              <a:t>Effective 1 Jan 2027</a:t>
            </a:r>
          </a:p>
        </p:txBody>
      </p:sp>
      <p:sp>
        <p:nvSpPr>
          <p:cNvPr id="23" name="TextBox 22"/>
          <p:cNvSpPr txBox="1"/>
          <p:nvPr/>
        </p:nvSpPr>
        <p:spPr>
          <a:xfrm>
            <a:off x="6812280" y="5047488"/>
            <a:ext cx="4389120" cy="685800"/>
          </a:xfrm>
          <a:prstGeom prst="rect">
            <a:avLst/>
          </a:prstGeom>
          <a:noFill/>
        </p:spPr>
        <p:txBody>
          <a:bodyPr wrap="square">
            <a:spAutoFit/>
          </a:bodyPr>
          <a:lstStyle/>
          <a:p>
            <a:pPr algn="l"/>
            <a:r>
              <a:rPr sz="1100" b="0" i="0">
                <a:solidFill>
                  <a:srgbClr val="CCCCCC"/>
                </a:solidFill>
              </a:rPr>
              <a:t>Applies retrospectively from annual periods beginning on or after 1 January 2027. Early adoption is permitted — start planning now.</a:t>
            </a:r>
          </a:p>
        </p:txBody>
      </p:sp>
      <p:sp>
        <p:nvSpPr>
          <p:cNvPr id="24" name="Rectangle 23"/>
          <p:cNvSpPr/>
          <p:nvPr/>
        </p:nvSpPr>
        <p:spPr>
          <a:xfrm>
            <a:off x="0" y="6492240"/>
            <a:ext cx="12188952" cy="3657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510528"/>
            <a:ext cx="10972800" cy="320040"/>
          </a:xfrm>
          <a:prstGeom prst="rect">
            <a:avLst/>
          </a:prstGeom>
          <a:noFill/>
        </p:spPr>
        <p:txBody>
          <a:bodyPr wrap="square">
            <a:spAutoFit/>
          </a:bodyPr>
          <a:lstStyle/>
          <a:p>
            <a:pPr algn="l"/>
            <a:r>
              <a:rPr sz="900" b="0" i="0">
                <a:solidFill>
                  <a:srgbClr val="9DC3E6"/>
                </a:solidFill>
              </a:rPr>
              <a:t>IFRS 18 | Presentation and Disclosure in Financial Statements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0" y="-914400"/>
            <a:ext cx="6400800" cy="6400800"/>
          </a:xfrm>
          <a:prstGeom prst="ellipse">
            <a:avLst/>
          </a:prstGeom>
          <a:solidFill>
            <a:srgbClr val="1F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0" y="2286000"/>
            <a:ext cx="4114800" cy="411480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6400800" cy="1463040"/>
          </a:xfrm>
          <a:prstGeom prst="rect">
            <a:avLst/>
          </a:prstGeom>
          <a:noFill/>
        </p:spPr>
        <p:txBody>
          <a:bodyPr wrap="square">
            <a:spAutoFit/>
          </a:bodyPr>
          <a:lstStyle/>
          <a:p>
            <a:pPr algn="l"/>
            <a:r>
              <a:rPr sz="6000" b="1" i="0">
                <a:solidFill>
                  <a:srgbClr val="FFFFFF"/>
                </a:solidFill>
              </a:rPr>
              <a:t>Thank You</a:t>
            </a:r>
          </a:p>
        </p:txBody>
      </p:sp>
      <p:sp>
        <p:nvSpPr>
          <p:cNvPr id="7" name="Rectangle 6"/>
          <p:cNvSpPr/>
          <p:nvPr/>
        </p:nvSpPr>
        <p:spPr>
          <a:xfrm>
            <a:off x="548640" y="3200400"/>
            <a:ext cx="4114800"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383280"/>
            <a:ext cx="6858000" cy="548640"/>
          </a:xfrm>
          <a:prstGeom prst="rect">
            <a:avLst/>
          </a:prstGeom>
          <a:noFill/>
        </p:spPr>
        <p:txBody>
          <a:bodyPr wrap="square">
            <a:spAutoFit/>
          </a:bodyPr>
          <a:lstStyle/>
          <a:p>
            <a:pPr algn="l"/>
            <a:r>
              <a:rPr sz="2000" b="0" i="0">
                <a:solidFill>
                  <a:srgbClr val="9DC3E6"/>
                </a:solidFill>
              </a:rPr>
              <a:t>Questions &amp; Discussion</a:t>
            </a:r>
          </a:p>
        </p:txBody>
      </p:sp>
      <p:sp>
        <p:nvSpPr>
          <p:cNvPr id="9" name="TextBox 8"/>
          <p:cNvSpPr txBox="1"/>
          <p:nvPr/>
        </p:nvSpPr>
        <p:spPr>
          <a:xfrm>
            <a:off x="548640" y="4114800"/>
            <a:ext cx="7772400" cy="1097280"/>
          </a:xfrm>
          <a:prstGeom prst="rect">
            <a:avLst/>
          </a:prstGeom>
          <a:noFill/>
        </p:spPr>
        <p:txBody>
          <a:bodyPr wrap="square">
            <a:spAutoFit/>
          </a:bodyPr>
          <a:lstStyle/>
          <a:p>
            <a:pPr algn="l"/>
            <a:r>
              <a:rPr sz="1200" b="0" i="0">
                <a:solidFill>
                  <a:srgbClr val="7F7F7F"/>
                </a:solidFill>
              </a:rPr>
              <a:t>IFRS 18 — Presentation and Disclosure in Financial Statements
Effective for annual periods beginning on or after 1 January 2027
Issued by the International Accounting Standards Board (IASB), May 2024</a:t>
            </a:r>
          </a:p>
        </p:txBody>
      </p:sp>
      <p:sp>
        <p:nvSpPr>
          <p:cNvPr id="10" name="Rectangle 9"/>
          <p:cNvSpPr/>
          <p:nvPr/>
        </p:nvSpPr>
        <p:spPr>
          <a:xfrm>
            <a:off x="0" y="6172200"/>
            <a:ext cx="12188952" cy="685800"/>
          </a:xfrm>
          <a:prstGeom prst="rect">
            <a:avLst/>
          </a:prstGeom>
          <a:solidFill>
            <a:srgbClr val="12223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0">
                <a:solidFill>
                  <a:srgbClr val="7F7F7F"/>
                </a:solidFill>
              </a:rPr>
              <a:t>This presentation is prepared for educational and informational purposes. Please refer to the full IFRS 18 standard for authoritative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